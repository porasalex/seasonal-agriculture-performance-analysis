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5"/>
  </p:notesMasterIdLst>
  <p:handoutMasterIdLst>
    <p:handoutMasterId r:id="rId26"/>
  </p:handoutMasterIdLst>
  <p:sldIdLst>
    <p:sldId id="338" r:id="rId5"/>
    <p:sldId id="327" r:id="rId6"/>
    <p:sldId id="315" r:id="rId7"/>
    <p:sldId id="329" r:id="rId8"/>
    <p:sldId id="302" r:id="rId9"/>
    <p:sldId id="350" r:id="rId10"/>
    <p:sldId id="347" r:id="rId11"/>
    <p:sldId id="351" r:id="rId12"/>
    <p:sldId id="352" r:id="rId13"/>
    <p:sldId id="353" r:id="rId14"/>
    <p:sldId id="354" r:id="rId15"/>
    <p:sldId id="355" r:id="rId16"/>
    <p:sldId id="356" r:id="rId17"/>
    <p:sldId id="357" r:id="rId18"/>
    <p:sldId id="349" r:id="rId19"/>
    <p:sldId id="340" r:id="rId20"/>
    <p:sldId id="341" r:id="rId21"/>
    <p:sldId id="342" r:id="rId22"/>
    <p:sldId id="343" r:id="rId23"/>
    <p:sldId id="304"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D9D9D9"/>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7085" autoAdjust="0"/>
    <p:restoredTop sz="99877" autoAdjust="0"/>
  </p:normalViewPr>
  <p:slideViewPr>
    <p:cSldViewPr snapToGrid="0">
      <p:cViewPr varScale="1">
        <p:scale>
          <a:sx n="87" d="100"/>
          <a:sy n="87" d="100"/>
        </p:scale>
        <p:origin x="-432" y="-82"/>
      </p:cViewPr>
      <p:guideLst>
        <p:guide orient="horz" pos="1968"/>
        <p:guide orient="horz" pos="3912"/>
        <p:guide orient="horz" pos="1656"/>
        <p:guide pos="408"/>
        <p:guide pos="7272"/>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pPr/>
              <a:t>9/9/2026</a:t>
            </a:fld>
            <a:endParaRPr lang="en-US" dirty="0"/>
          </a:p>
        </p:txBody>
      </p:sp>
      <p:sp>
        <p:nvSpPr>
          <p:cNvPr id="4" name="Footer Placeholder 3">
            <a:extLst>
              <a:ext uri="{FF2B5EF4-FFF2-40B4-BE49-F238E27FC236}">
                <a16:creationId xmlns:a16="http://schemas.microsoft.com/office/drawing/2014/main" xmlns=""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pPr/>
              <a:t>‹#›</a:t>
            </a:fld>
            <a:endParaRPr lang="en-US" dirty="0"/>
          </a:p>
        </p:txBody>
      </p:sp>
    </p:spTree>
    <p:extLst>
      <p:ext uri="{BB962C8B-B14F-4D97-AF65-F5344CB8AC3E}">
        <p14:creationId xmlns:p14="http://schemas.microsoft.com/office/powerpoint/2010/main" xmlns=""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pPr/>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pPr/>
              <a:t>‹#›</a:t>
            </a:fld>
            <a:endParaRPr lang="en-US" noProof="0" dirty="0"/>
          </a:p>
        </p:txBody>
      </p:sp>
    </p:spTree>
    <p:extLst>
      <p:ext uri="{BB962C8B-B14F-4D97-AF65-F5344CB8AC3E}">
        <p14:creationId xmlns:p14="http://schemas.microsoft.com/office/powerpoint/2010/main" xmlns=""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pPr/>
              <a:t>5</a:t>
            </a:fld>
            <a:endParaRPr lang="en-US" noProof="0" dirty="0"/>
          </a:p>
        </p:txBody>
      </p:sp>
    </p:spTree>
    <p:extLst>
      <p:ext uri="{BB962C8B-B14F-4D97-AF65-F5344CB8AC3E}">
        <p14:creationId xmlns:p14="http://schemas.microsoft.com/office/powerpoint/2010/main" xmlns="" val="25079122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530193B-564F-4854-8A52-728F3FB19C85}" type="slidenum">
              <a:rPr lang="en-US" noProof="0" smtClean="0"/>
              <a:pPr/>
              <a:t>18</a:t>
            </a:fld>
            <a:endParaRPr lang="en-US" noProof="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530193B-564F-4854-8A52-728F3FB19C85}" type="slidenum">
              <a:rPr lang="en-US" noProof="0" smtClean="0"/>
              <a:pPr/>
              <a:t>19</a:t>
            </a:fld>
            <a:endParaRPr lang="en-US" noProof="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pPr/>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pPr/>
              <a:t>‹#›</a:t>
            </a:fld>
            <a:endParaRPr lang="en-US" dirty="0"/>
          </a:p>
        </p:txBody>
      </p:sp>
    </p:spTree>
    <p:extLst>
      <p:ext uri="{BB962C8B-B14F-4D97-AF65-F5344CB8AC3E}">
        <p14:creationId xmlns:p14="http://schemas.microsoft.com/office/powerpoint/2010/main" xmlns=""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pPr/>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pPr/>
              <a:t>‹#›</a:t>
            </a:fld>
            <a:endParaRPr lang="en-US" dirty="0"/>
          </a:p>
        </p:txBody>
      </p:sp>
    </p:spTree>
    <p:extLst>
      <p:ext uri="{BB962C8B-B14F-4D97-AF65-F5344CB8AC3E}">
        <p14:creationId xmlns:p14="http://schemas.microsoft.com/office/powerpoint/2010/main" xmlns=""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xmlns=""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xmlns=""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xmlns=""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pPr/>
              <a:t>‹#›</a:t>
            </a:fld>
            <a:endParaRPr lang="en-US" dirty="0"/>
          </a:p>
        </p:txBody>
      </p:sp>
    </p:spTree>
    <p:extLst>
      <p:ext uri="{BB962C8B-B14F-4D97-AF65-F5344CB8AC3E}">
        <p14:creationId xmlns:p14="http://schemas.microsoft.com/office/powerpoint/2010/main" xmlns=""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xmlns=""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xmlns=""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xmlns=""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xmlns=""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xmlns=""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xmlns=""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xmlns="" val="1409194673"/>
      </p:ext>
    </p:extLst>
  </p:cSld>
  <p:clrMapOvr>
    <a:masterClrMapping/>
  </p:clrMapOvr>
  <p:extLst>
    <p:ext uri="{DCECCB84-F9BA-43D5-87BE-67443E8EF086}">
      <p15:sldGuideLst xmlns:p15="http://schemas.microsoft.com/office/powerpoint/2012/main" xmlns="">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xmlns=""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xmlns=""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xmlns=""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xmlns=""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xmlns=""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xmlns=""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xmlns="" val="75139580"/>
      </p:ext>
    </p:extLst>
  </p:cSld>
  <p:clrMapOvr>
    <a:masterClrMapping/>
  </p:clrMapOvr>
  <p:extLst>
    <p:ext uri="{DCECCB84-F9BA-43D5-87BE-67443E8EF086}">
      <p15:sldGuideLst xmlns:p15="http://schemas.microsoft.com/office/powerpoint/2012/main" xmlns="">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xmlns=""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xmlns=""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xmlns=""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xmlns=""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xmlns=""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xmlns="" val="1591254852"/>
      </p:ext>
    </p:extLst>
  </p:cSld>
  <p:clrMapOvr>
    <a:masterClrMapping/>
  </p:clrMapOvr>
  <p:extLst>
    <p:ext uri="{DCECCB84-F9BA-43D5-87BE-67443E8EF086}">
      <p15:sldGuideLst xmlns:p15="http://schemas.microsoft.com/office/powerpoint/2012/main" xmlns="">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xmlns=""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xmlns=""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xmlns=""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xmlns=""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xmlns=""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xmlns=""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xmlns=""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xmlns=""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xmlns=""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xmlns=""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xmlns=""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xmlns=""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xmlns=""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xmlns=""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xmlns=""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xmlns=""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xmlns=""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xmlns=""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xmlns=""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xmlns="" val="1795884839"/>
      </p:ext>
    </p:extLst>
  </p:cSld>
  <p:clrMapOvr>
    <a:masterClrMapping/>
  </p:clrMapOvr>
  <p:extLst>
    <p:ext uri="{DCECCB84-F9BA-43D5-87BE-67443E8EF086}">
      <p15:sldGuideLst xmlns:p15="http://schemas.microsoft.com/office/powerpoint/2012/main" xmlns="">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xmlns=""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xmlns=""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xmlns=""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xmlns=""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xmlns=""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xmlns=""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xmlns=""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xmlns=""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xmlns=""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9.xml"/><Relationship Id="rId4" Type="http://schemas.openxmlformats.org/officeDocument/2006/relationships/hyperlink" Target="https://github.com/porasalex/Seasonal-Agriculture-Performance-Analysis.git"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7201737A-B873-4D1D-8A41-5ABF5184BC8F}"/>
              </a:ext>
            </a:extLst>
          </p:cNvPr>
          <p:cNvSpPr>
            <a:spLocks noGrp="1"/>
          </p:cNvSpPr>
          <p:nvPr>
            <p:ph type="body" sz="quarter" idx="11"/>
          </p:nvPr>
        </p:nvSpPr>
        <p:spPr>
          <a:xfrm>
            <a:off x="685800" y="3627875"/>
            <a:ext cx="4923692" cy="861497"/>
          </a:xfrm>
        </p:spPr>
        <p:txBody>
          <a:bodyPr vert="horz" lIns="91440" tIns="45720" rIns="91440" bIns="45720" rtlCol="0" anchor="t">
            <a:normAutofit/>
          </a:bodyPr>
          <a:lstStyle/>
          <a:p>
            <a:r>
              <a:rPr lang="en-US" b="0" dirty="0" err="1" smtClean="0">
                <a:solidFill>
                  <a:schemeClr val="tx1"/>
                </a:solidFill>
              </a:rPr>
              <a:t>Vennapusa</a:t>
            </a:r>
            <a:r>
              <a:rPr lang="en-US" b="0" dirty="0" smtClean="0">
                <a:solidFill>
                  <a:schemeClr val="tx1"/>
                </a:solidFill>
              </a:rPr>
              <a:t> </a:t>
            </a:r>
            <a:r>
              <a:rPr lang="en-US" b="0" dirty="0" err="1" smtClean="0">
                <a:solidFill>
                  <a:schemeClr val="tx1"/>
                </a:solidFill>
              </a:rPr>
              <a:t>Purushotham</a:t>
            </a:r>
            <a:r>
              <a:rPr lang="en-US" b="0" dirty="0" smtClean="0">
                <a:solidFill>
                  <a:schemeClr val="tx1"/>
                </a:solidFill>
              </a:rPr>
              <a:t> Reddy </a:t>
            </a:r>
            <a:r>
              <a:rPr lang="en-US" b="0" dirty="0" smtClean="0">
                <a:solidFill>
                  <a:schemeClr val="tx1"/>
                </a:solidFill>
              </a:rPr>
              <a:t>		</a:t>
            </a:r>
            <a:endParaRPr lang="en-US" b="0" dirty="0" smtClean="0">
              <a:solidFill>
                <a:schemeClr val="tx1"/>
              </a:solidFill>
            </a:endParaRPr>
          </a:p>
          <a:p>
            <a:r>
              <a:rPr lang="en-IN" b="0" dirty="0" err="1" smtClean="0">
                <a:solidFill>
                  <a:schemeClr val="tx1"/>
                </a:solidFill>
              </a:rPr>
              <a:t>Tadipatri</a:t>
            </a:r>
            <a:r>
              <a:rPr lang="en-IN" b="0" dirty="0" smtClean="0">
                <a:solidFill>
                  <a:schemeClr val="tx1"/>
                </a:solidFill>
              </a:rPr>
              <a:t> </a:t>
            </a:r>
            <a:r>
              <a:rPr lang="en-IN" b="0" dirty="0" err="1" smtClean="0">
                <a:solidFill>
                  <a:schemeClr val="tx1"/>
                </a:solidFill>
              </a:rPr>
              <a:t>Engineeing</a:t>
            </a:r>
            <a:r>
              <a:rPr lang="en-IN" b="0" dirty="0" smtClean="0">
                <a:solidFill>
                  <a:schemeClr val="tx1"/>
                </a:solidFill>
              </a:rPr>
              <a:t> College</a:t>
            </a:r>
            <a:endParaRPr lang="en-IN" b="0" dirty="0">
              <a:solidFill>
                <a:schemeClr val="tx1"/>
              </a:solidFill>
            </a:endParaRPr>
          </a:p>
          <a:p>
            <a:pPr algn="r"/>
            <a:endParaRPr lang="en-IN" b="0" dirty="0">
              <a:solidFill>
                <a:schemeClr val="tx1"/>
              </a:solidFill>
            </a:endParaRPr>
          </a:p>
        </p:txBody>
      </p:sp>
      <p:sp>
        <p:nvSpPr>
          <p:cNvPr id="4" name="Title 3">
            <a:extLst>
              <a:ext uri="{FF2B5EF4-FFF2-40B4-BE49-F238E27FC236}">
                <a16:creationId xmlns:a16="http://schemas.microsoft.com/office/drawing/2014/main" xmlns="" id="{92056599-CDAA-4367-BEF8-31D6E32518C8}"/>
              </a:ext>
            </a:extLst>
          </p:cNvPr>
          <p:cNvSpPr>
            <a:spLocks noGrp="1"/>
          </p:cNvSpPr>
          <p:nvPr>
            <p:ph type="title"/>
          </p:nvPr>
        </p:nvSpPr>
        <p:spPr>
          <a:xfrm>
            <a:off x="678364" y="2844750"/>
            <a:ext cx="4998720" cy="743448"/>
          </a:xfrm>
        </p:spPr>
        <p:txBody>
          <a:bodyPr>
            <a:noAutofit/>
          </a:bodyPr>
          <a:lstStyle/>
          <a:p>
            <a:r>
              <a:rPr lang="en-US" sz="2400" dirty="0" smtClean="0"/>
              <a:t>Seasonal Agriculture Performance Analysis</a:t>
            </a:r>
            <a:endParaRPr lang="en-IN" sz="2400" dirty="0"/>
          </a:p>
        </p:txBody>
      </p:sp>
      <p:sp>
        <p:nvSpPr>
          <p:cNvPr id="15" name="Text Placeholder 1">
            <a:extLst>
              <a:ext uri="{FF2B5EF4-FFF2-40B4-BE49-F238E27FC236}">
                <a16:creationId xmlns:a16="http://schemas.microsoft.com/office/drawing/2014/main" xmlns=""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xmlns=""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xmlns="" id="{17F04107-8754-E47D-3375-529E689711FA}"/>
              </a:ext>
            </a:extLst>
          </p:cNvPr>
          <p:cNvSpPr txBox="1"/>
          <p:nvPr/>
        </p:nvSpPr>
        <p:spPr>
          <a:xfrm>
            <a:off x="957406" y="4576469"/>
            <a:ext cx="4704840" cy="646331"/>
          </a:xfrm>
          <a:prstGeom prst="rect">
            <a:avLst/>
          </a:prstGeom>
          <a:noFill/>
        </p:spPr>
        <p:txBody>
          <a:bodyPr wrap="square" rtlCol="0">
            <a:spAutoFit/>
          </a:bodyPr>
          <a:lstStyle/>
          <a:p>
            <a:r>
              <a:rPr lang="en-US" b="1" dirty="0"/>
              <a:t>AICTE STU </a:t>
            </a:r>
            <a:r>
              <a:rPr lang="en-US" b="1" dirty="0" smtClean="0"/>
              <a:t>ID : </a:t>
            </a:r>
            <a:r>
              <a:rPr lang="en-US" dirty="0" smtClean="0"/>
              <a:t>STU688225a65b9121753359782</a:t>
            </a:r>
            <a:endParaRPr lang="en-US" b="1" dirty="0"/>
          </a:p>
        </p:txBody>
      </p:sp>
    </p:spTree>
    <p:extLst>
      <p:ext uri="{BB962C8B-B14F-4D97-AF65-F5344CB8AC3E}">
        <p14:creationId xmlns:p14="http://schemas.microsoft.com/office/powerpoint/2010/main" xmlns=""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Autofit/>
          </a:bodyPr>
          <a:lstStyle/>
          <a:p>
            <a:pPr>
              <a:lnSpc>
                <a:spcPct val="150000"/>
              </a:lnSpc>
            </a:pPr>
            <a:r>
              <a:rPr lang="en-US" sz="1400" b="1" dirty="0" smtClean="0">
                <a:solidFill>
                  <a:schemeClr val="tx1"/>
                </a:solidFill>
              </a:rPr>
              <a:t>Agricultural activities are influenced by seasonal variations in environmental conditions, farming practices, resource availability and market conditions. </a:t>
            </a:r>
            <a:endParaRPr lang="en-US" sz="1400" b="1" dirty="0" smtClean="0">
              <a:solidFill>
                <a:schemeClr val="tx1"/>
              </a:solidFill>
            </a:endParaRPr>
          </a:p>
          <a:p>
            <a:pPr>
              <a:lnSpc>
                <a:spcPct val="150000"/>
              </a:lnSpc>
            </a:pPr>
            <a:r>
              <a:rPr lang="en-US" sz="1400" b="1" dirty="0" smtClean="0">
                <a:solidFill>
                  <a:schemeClr val="tx1"/>
                </a:solidFill>
              </a:rPr>
              <a:t>As </a:t>
            </a:r>
            <a:r>
              <a:rPr lang="en-US" sz="1400" b="1" dirty="0" smtClean="0">
                <a:solidFill>
                  <a:schemeClr val="tx1"/>
                </a:solidFill>
              </a:rPr>
              <a:t>a result, agricultural </a:t>
            </a:r>
            <a:r>
              <a:rPr lang="en-US" sz="1600" b="1" dirty="0" smtClean="0">
                <a:solidFill>
                  <a:schemeClr val="tx1"/>
                </a:solidFill>
              </a:rPr>
              <a:t>performance</a:t>
            </a:r>
            <a:r>
              <a:rPr lang="en-US" sz="1400" b="1" dirty="0" smtClean="0">
                <a:solidFill>
                  <a:schemeClr val="tx1"/>
                </a:solidFill>
              </a:rPr>
              <a:t> may differ from one season to another. However, raw agricultural data does not clearly explain how agricultural performance changes across seasons or what patterns can be observed in different seasonal conditions</a:t>
            </a:r>
            <a:r>
              <a:rPr lang="en-US" sz="1400" b="1" dirty="0" smtClean="0">
                <a:solidFill>
                  <a:schemeClr val="tx1"/>
                </a:solidFill>
              </a:rPr>
              <a:t>.</a:t>
            </a:r>
          </a:p>
          <a:p>
            <a:pPr>
              <a:lnSpc>
                <a:spcPct val="150000"/>
              </a:lnSpc>
            </a:pPr>
            <a:r>
              <a:rPr lang="en-US" sz="1400" b="1" dirty="0" smtClean="0">
                <a:solidFill>
                  <a:schemeClr val="tx1"/>
                </a:solidFill>
              </a:rPr>
              <a:t> </a:t>
            </a:r>
            <a:r>
              <a:rPr lang="en-US" sz="1400" b="1" dirty="0" smtClean="0">
                <a:solidFill>
                  <a:schemeClr val="tx1"/>
                </a:solidFill>
              </a:rPr>
              <a:t>The problem is to analyze the given agricultural dataset and investigate seasonal differences in agricultural performance by identifying meaningful patterns, trends, relationships and variations within the available data.</a:t>
            </a:r>
            <a:endParaRPr lang="en-IN" sz="1400" b="1" dirty="0">
              <a:solidFill>
                <a:schemeClr val="tx1"/>
              </a:solidFill>
            </a:endParaRPr>
          </a:p>
        </p:txBody>
      </p:sp>
      <p:sp>
        <p:nvSpPr>
          <p:cNvPr id="4" name="Title 3">
            <a:extLst>
              <a:ext uri="{FF2B5EF4-FFF2-40B4-BE49-F238E27FC236}">
                <a16:creationId xmlns:a16="http://schemas.microsoft.com/office/drawing/2014/main" xmlns=""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xmlns=""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xmlns=""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xmlns=""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EBF2FBC7-3552-4F01-BB27-8BEEE74F7277}"/>
              </a:ext>
            </a:extLst>
          </p:cNvPr>
          <p:cNvSpPr>
            <a:spLocks noGrp="1"/>
          </p:cNvSpPr>
          <p:nvPr>
            <p:ph type="title"/>
          </p:nvPr>
        </p:nvSpPr>
        <p:spPr>
          <a:xfrm>
            <a:off x="616438" y="655744"/>
            <a:ext cx="6276109" cy="830997"/>
          </a:xfrm>
        </p:spPr>
        <p:txBody>
          <a:bodyPr>
            <a:normAutofit fontScale="90000"/>
          </a:bodyPr>
          <a:lstStyle/>
          <a:p>
            <a:r>
              <a:rPr lang="en-GB" dirty="0"/>
              <a:t>Project Description</a:t>
            </a:r>
            <a:br>
              <a:rPr lang="en-GB" dirty="0"/>
            </a:br>
            <a:r>
              <a:rPr lang="en-GB" dirty="0" smtClean="0"/>
              <a:t/>
            </a:r>
            <a:br>
              <a:rPr lang="en-GB" dirty="0" smtClean="0"/>
            </a:br>
            <a:r>
              <a:rPr lang="en-US" sz="2000" b="0" dirty="0" smtClean="0"/>
              <a:t>Agricultural </a:t>
            </a:r>
            <a:r>
              <a:rPr lang="en-US" sz="2000" b="0" dirty="0" smtClean="0"/>
              <a:t>activities are influenced by seasonal variations in environmental conditions, farming practices, resource availability and market conditions</a:t>
            </a:r>
            <a:r>
              <a:rPr lang="en-US" sz="2000" b="0" dirty="0" smtClean="0"/>
              <a:t>.</a:t>
            </a:r>
            <a:br>
              <a:rPr lang="en-US" sz="2000" b="0" dirty="0" smtClean="0"/>
            </a:br>
            <a:r>
              <a:rPr lang="en-US" sz="2000" b="0" dirty="0" smtClean="0"/>
              <a:t> </a:t>
            </a:r>
            <a:r>
              <a:rPr lang="en-US" sz="2000" b="0" dirty="0" smtClean="0"/>
              <a:t>As a result, agricultural performance may differ from one season to another</a:t>
            </a:r>
            <a:r>
              <a:rPr lang="en-US" sz="2000" b="0" dirty="0" smtClean="0"/>
              <a:t>.</a:t>
            </a:r>
            <a:br>
              <a:rPr lang="en-US" sz="2000" b="0" dirty="0" smtClean="0"/>
            </a:br>
            <a:r>
              <a:rPr lang="en-US" sz="2000" b="0" dirty="0" smtClean="0"/>
              <a:t> </a:t>
            </a:r>
            <a:r>
              <a:rPr lang="en-US" sz="2000" b="0" dirty="0" smtClean="0"/>
              <a:t>However, raw agricultural data does not clearly explain how agricultural performance changes across seasons or what patterns can be observed in different seasonal conditions. </a:t>
            </a:r>
            <a:r>
              <a:rPr lang="en-US" sz="2000" b="0" dirty="0" smtClean="0"/>
              <a:t/>
            </a:r>
            <a:br>
              <a:rPr lang="en-US" sz="2000" b="0" dirty="0" smtClean="0"/>
            </a:br>
            <a:r>
              <a:rPr lang="en-US" sz="2000" b="0" dirty="0" smtClean="0"/>
              <a:t>The </a:t>
            </a:r>
            <a:r>
              <a:rPr lang="en-US" sz="2000" b="0" dirty="0" smtClean="0"/>
              <a:t>problem is to analyze the given agricultural dataset and investigate seasonal differences in agricultural performance by identifying meaningful patterns, trends, relationships and variations within the available data. </a:t>
            </a:r>
            <a:r>
              <a:rPr lang="en-GB" sz="5300" b="0" dirty="0"/>
              <a:t/>
            </a:r>
            <a:br>
              <a:rPr lang="en-GB" sz="5300" b="0" dirty="0"/>
            </a:br>
            <a:endParaRPr lang="en-IN" sz="5300" b="0" dirty="0"/>
          </a:p>
        </p:txBody>
      </p:sp>
      <p:pic>
        <p:nvPicPr>
          <p:cNvPr id="5" name="Picture 4">
            <a:extLst>
              <a:ext uri="{FF2B5EF4-FFF2-40B4-BE49-F238E27FC236}">
                <a16:creationId xmlns:a16="http://schemas.microsoft.com/office/drawing/2014/main" xmlns=""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xmlns=""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xmlns=""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664E3B60-2780-459A-8583-F095D5E7463A}"/>
              </a:ext>
            </a:extLst>
          </p:cNvPr>
          <p:cNvSpPr>
            <a:spLocks noGrp="1"/>
          </p:cNvSpPr>
          <p:nvPr>
            <p:ph type="body" sz="quarter" idx="12"/>
          </p:nvPr>
        </p:nvSpPr>
        <p:spPr>
          <a:xfrm>
            <a:off x="721359" y="1991360"/>
            <a:ext cx="7904481" cy="3990023"/>
          </a:xfrm>
        </p:spPr>
        <p:txBody>
          <a:bodyPr>
            <a:normAutofit fontScale="47500" lnSpcReduction="20000"/>
          </a:bodyPr>
          <a:lstStyle/>
          <a:p>
            <a:pPr algn="just">
              <a:lnSpc>
                <a:spcPct val="150000"/>
              </a:lnSpc>
            </a:pPr>
            <a:r>
              <a:rPr lang="en-US" sz="3600" b="1" dirty="0" smtClean="0"/>
              <a:t>Farmers</a:t>
            </a:r>
            <a:r>
              <a:rPr lang="en-US" sz="3600" dirty="0" smtClean="0"/>
              <a:t>: For crop selection, irrigation, and seasonal </a:t>
            </a:r>
            <a:r>
              <a:rPr lang="en-US" sz="3600" dirty="0" smtClean="0"/>
              <a:t>planning.</a:t>
            </a:r>
          </a:p>
          <a:p>
            <a:pPr algn="just">
              <a:lnSpc>
                <a:spcPct val="150000"/>
              </a:lnSpc>
            </a:pPr>
            <a:r>
              <a:rPr lang="en-US" sz="3600" b="1" dirty="0" smtClean="0"/>
              <a:t>Agricultural </a:t>
            </a:r>
            <a:r>
              <a:rPr lang="en-US" sz="3600" b="1" dirty="0" smtClean="0"/>
              <a:t>Planners</a:t>
            </a:r>
            <a:r>
              <a:rPr lang="en-US" sz="3600" dirty="0" smtClean="0"/>
              <a:t>: To compare seasonal and regional performance. </a:t>
            </a:r>
            <a:endParaRPr lang="en-US" sz="3600" dirty="0" smtClean="0"/>
          </a:p>
          <a:p>
            <a:pPr algn="just">
              <a:lnSpc>
                <a:spcPct val="150000"/>
              </a:lnSpc>
            </a:pPr>
            <a:r>
              <a:rPr lang="en-US" sz="3600" b="1" dirty="0" smtClean="0"/>
              <a:t>Agricultural </a:t>
            </a:r>
            <a:r>
              <a:rPr lang="en-US" sz="3600" b="1" dirty="0" smtClean="0"/>
              <a:t>Researchers</a:t>
            </a:r>
            <a:r>
              <a:rPr lang="en-US" sz="3600" dirty="0" smtClean="0"/>
              <a:t>: To study crop, soil, weather, and resource patterns. </a:t>
            </a:r>
            <a:endParaRPr lang="en-US" sz="3600" dirty="0" smtClean="0"/>
          </a:p>
          <a:p>
            <a:pPr algn="just">
              <a:lnSpc>
                <a:spcPct val="150000"/>
              </a:lnSpc>
            </a:pPr>
            <a:r>
              <a:rPr lang="en-US" sz="3600" b="1" dirty="0" smtClean="0"/>
              <a:t>Government </a:t>
            </a:r>
            <a:r>
              <a:rPr lang="en-US" sz="3600" b="1" dirty="0" smtClean="0"/>
              <a:t>&amp; Agriculture Departments</a:t>
            </a:r>
            <a:r>
              <a:rPr lang="en-US" sz="3600" dirty="0" smtClean="0"/>
              <a:t>: For data-based agricultural </a:t>
            </a:r>
            <a:r>
              <a:rPr lang="en-US" sz="3600" dirty="0" smtClean="0"/>
              <a:t>planning.</a:t>
            </a:r>
          </a:p>
          <a:p>
            <a:pPr algn="just">
              <a:lnSpc>
                <a:spcPct val="150000"/>
              </a:lnSpc>
            </a:pPr>
            <a:r>
              <a:rPr lang="en-US" sz="3600" b="1" dirty="0" smtClean="0"/>
              <a:t>Farm </a:t>
            </a:r>
            <a:r>
              <a:rPr lang="en-US" sz="3600" b="1" dirty="0" smtClean="0"/>
              <a:t>Management Teams</a:t>
            </a:r>
            <a:r>
              <a:rPr lang="en-US" sz="3600" dirty="0" smtClean="0"/>
              <a:t>: To analyze costs, revenue, profit, and resource efficiency.</a:t>
            </a:r>
            <a:endParaRPr lang="en-IN" sz="3600" dirty="0"/>
          </a:p>
        </p:txBody>
      </p:sp>
      <p:sp>
        <p:nvSpPr>
          <p:cNvPr id="4" name="Title 3">
            <a:extLst>
              <a:ext uri="{FF2B5EF4-FFF2-40B4-BE49-F238E27FC236}">
                <a16:creationId xmlns:a16="http://schemas.microsoft.com/office/drawing/2014/main" xmlns=""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xmlns=""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xmlns=""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xmlns=""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xmlns=""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r>
              <a:rPr lang="en-US" b="1" dirty="0" smtClean="0"/>
              <a:t>Python</a:t>
            </a:r>
            <a:r>
              <a:rPr lang="en-US" dirty="0" smtClean="0"/>
              <a:t> </a:t>
            </a:r>
            <a:endParaRPr lang="en-US" dirty="0" smtClean="0"/>
          </a:p>
          <a:p>
            <a:pPr lvl="1">
              <a:lnSpc>
                <a:spcPct val="150000"/>
              </a:lnSpc>
            </a:pPr>
            <a:r>
              <a:rPr lang="en-US" b="1" dirty="0" smtClean="0"/>
              <a:t>Pandas</a:t>
            </a:r>
            <a:r>
              <a:rPr lang="en-US" dirty="0" smtClean="0"/>
              <a:t> </a:t>
            </a:r>
            <a:r>
              <a:rPr lang="en-US" dirty="0" smtClean="0"/>
              <a:t>for data cleaning and analysis </a:t>
            </a:r>
            <a:endParaRPr lang="en-US" dirty="0" smtClean="0"/>
          </a:p>
          <a:p>
            <a:pPr lvl="1">
              <a:lnSpc>
                <a:spcPct val="150000"/>
              </a:lnSpc>
            </a:pPr>
            <a:r>
              <a:rPr lang="en-US" b="1" dirty="0" err="1" smtClean="0"/>
              <a:t>NumPy</a:t>
            </a:r>
            <a:r>
              <a:rPr lang="en-US" dirty="0" smtClean="0"/>
              <a:t> </a:t>
            </a:r>
            <a:r>
              <a:rPr lang="en-US" dirty="0" smtClean="0"/>
              <a:t>for numerical operations </a:t>
            </a:r>
            <a:endParaRPr lang="en-US" dirty="0" smtClean="0"/>
          </a:p>
          <a:p>
            <a:pPr lvl="1">
              <a:lnSpc>
                <a:spcPct val="150000"/>
              </a:lnSpc>
            </a:pPr>
            <a:r>
              <a:rPr lang="en-US" b="1" dirty="0" err="1" smtClean="0"/>
              <a:t>Matplotlib</a:t>
            </a:r>
            <a:r>
              <a:rPr lang="en-US" dirty="0" smtClean="0"/>
              <a:t> </a:t>
            </a:r>
            <a:r>
              <a:rPr lang="en-US" dirty="0" smtClean="0"/>
              <a:t>for data visualization </a:t>
            </a:r>
            <a:endParaRPr lang="en-US" dirty="0" smtClean="0"/>
          </a:p>
          <a:p>
            <a:pPr lvl="1">
              <a:lnSpc>
                <a:spcPct val="150000"/>
              </a:lnSpc>
            </a:pPr>
            <a:r>
              <a:rPr lang="en-US" b="1" dirty="0" err="1" smtClean="0"/>
              <a:t>Seaborn</a:t>
            </a:r>
            <a:r>
              <a:rPr lang="en-US" dirty="0" smtClean="0"/>
              <a:t> </a:t>
            </a:r>
            <a:r>
              <a:rPr lang="en-US" dirty="0" smtClean="0"/>
              <a:t>for statistical visualizations </a:t>
            </a:r>
            <a:r>
              <a:rPr lang="en-US" b="1" dirty="0" smtClean="0"/>
              <a:t>J</a:t>
            </a:r>
          </a:p>
          <a:p>
            <a:pPr lvl="1">
              <a:lnSpc>
                <a:spcPct val="150000"/>
              </a:lnSpc>
            </a:pPr>
            <a:r>
              <a:rPr lang="en-US" b="1" dirty="0" err="1" smtClean="0"/>
              <a:t>upyter</a:t>
            </a:r>
            <a:r>
              <a:rPr lang="en-US" b="1" dirty="0" smtClean="0"/>
              <a:t> </a:t>
            </a:r>
            <a:r>
              <a:rPr lang="en-US" b="1" dirty="0" smtClean="0"/>
              <a:t>Notebook / Google </a:t>
            </a:r>
            <a:r>
              <a:rPr lang="en-US" b="1" dirty="0" err="1" smtClean="0"/>
              <a:t>Colab</a:t>
            </a:r>
            <a:r>
              <a:rPr lang="en-US" dirty="0" smtClean="0"/>
              <a:t> for analysis </a:t>
            </a:r>
            <a:endParaRPr lang="en-US" dirty="0" smtClean="0"/>
          </a:p>
          <a:p>
            <a:pPr lvl="1">
              <a:lnSpc>
                <a:spcPct val="150000"/>
              </a:lnSpc>
            </a:pPr>
            <a:r>
              <a:rPr lang="en-US" b="1" dirty="0" smtClean="0"/>
              <a:t>CSV </a:t>
            </a:r>
            <a:r>
              <a:rPr lang="en-US" b="1" dirty="0" smtClean="0"/>
              <a:t>Dataset</a:t>
            </a:r>
            <a:r>
              <a:rPr lang="en-US" dirty="0" smtClean="0"/>
              <a:t> for storing and processing agricultural data </a:t>
            </a:r>
            <a:endParaRPr lang="en-US" dirty="0" smtClean="0"/>
          </a:p>
          <a:p>
            <a:pPr lvl="1">
              <a:lnSpc>
                <a:spcPct val="150000"/>
              </a:lnSpc>
            </a:pPr>
            <a:r>
              <a:rPr lang="en-US" b="1" dirty="0" err="1" smtClean="0"/>
              <a:t>GitHub</a:t>
            </a:r>
            <a:r>
              <a:rPr lang="en-US" dirty="0" smtClean="0"/>
              <a:t> </a:t>
            </a:r>
            <a:r>
              <a:rPr lang="en-US" dirty="0" smtClean="0"/>
              <a:t>for project repository and version sharing</a:t>
            </a:r>
            <a:endParaRPr lang="en-IN" dirty="0"/>
          </a:p>
        </p:txBody>
      </p:sp>
      <p:sp>
        <p:nvSpPr>
          <p:cNvPr id="9" name="Title 8">
            <a:extLst>
              <a:ext uri="{FF2B5EF4-FFF2-40B4-BE49-F238E27FC236}">
                <a16:creationId xmlns:a16="http://schemas.microsoft.com/office/drawing/2014/main" xmlns=""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xmlns=""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IN" sz="2400" b="1" dirty="0" smtClean="0">
                <a:solidFill>
                  <a:schemeClr val="tx1"/>
                </a:solidFill>
              </a:rPr>
              <a:t>Insights and Visualizations</a:t>
            </a:r>
            <a:endParaRPr lang="en-IN" dirty="0">
              <a:solidFill>
                <a:schemeClr val="tx1"/>
              </a:solidFill>
            </a:endParaRPr>
          </a:p>
        </p:txBody>
      </p:sp>
      <p:graphicFrame>
        <p:nvGraphicFramePr>
          <p:cNvPr id="9" name="Table 8"/>
          <p:cNvGraphicFramePr>
            <a:graphicFrameLocks noGrp="1"/>
          </p:cNvGraphicFramePr>
          <p:nvPr/>
        </p:nvGraphicFramePr>
        <p:xfrm>
          <a:off x="677984" y="2187525"/>
          <a:ext cx="8128000" cy="3352800"/>
        </p:xfrm>
        <a:graphic>
          <a:graphicData uri="http://schemas.openxmlformats.org/drawingml/2006/table">
            <a:tbl>
              <a:tblPr/>
              <a:tblGrid>
                <a:gridCol w="4064000"/>
                <a:gridCol w="4064000"/>
              </a:tblGrid>
              <a:tr h="0">
                <a:tc>
                  <a:txBody>
                    <a:bodyPr/>
                    <a:lstStyle/>
                    <a:p>
                      <a:r>
                        <a:rPr lang="en-US" b="1" dirty="0"/>
                        <a:t>Visualization</a:t>
                      </a:r>
                    </a:p>
                  </a:txBody>
                  <a:tcPr anchor="ctr">
                    <a:lnL>
                      <a:noFill/>
                    </a:lnL>
                    <a:lnR>
                      <a:noFill/>
                    </a:lnR>
                    <a:lnT>
                      <a:noFill/>
                    </a:lnT>
                    <a:lnB>
                      <a:noFill/>
                    </a:lnB>
                  </a:tcPr>
                </a:tc>
                <a:tc>
                  <a:txBody>
                    <a:bodyPr/>
                    <a:lstStyle/>
                    <a:p>
                      <a:r>
                        <a:rPr lang="en-US" b="1" dirty="0"/>
                        <a:t>Brief Finding</a:t>
                      </a:r>
                    </a:p>
                  </a:txBody>
                  <a:tcPr anchor="ctr">
                    <a:lnL>
                      <a:noFill/>
                    </a:lnL>
                    <a:lnR>
                      <a:noFill/>
                    </a:lnR>
                    <a:lnT>
                      <a:noFill/>
                    </a:lnT>
                    <a:lnB>
                      <a:noFill/>
                    </a:lnB>
                  </a:tcPr>
                </a:tc>
              </a:tr>
              <a:tr h="0">
                <a:tc>
                  <a:txBody>
                    <a:bodyPr/>
                    <a:lstStyle/>
                    <a:p>
                      <a:r>
                        <a:rPr lang="en-US" sz="1600" b="0" dirty="0" smtClean="0"/>
                        <a:t> Seasonal </a:t>
                      </a:r>
                      <a:r>
                        <a:rPr lang="en-US" sz="1600" b="0" dirty="0"/>
                        <a:t>Yield</a:t>
                      </a:r>
                    </a:p>
                  </a:txBody>
                  <a:tcPr anchor="ctr">
                    <a:lnL>
                      <a:noFill/>
                    </a:lnL>
                    <a:lnR>
                      <a:noFill/>
                    </a:lnR>
                    <a:lnT>
                      <a:noFill/>
                    </a:lnT>
                    <a:lnB>
                      <a:noFill/>
                    </a:lnB>
                  </a:tcPr>
                </a:tc>
                <a:tc>
                  <a:txBody>
                    <a:bodyPr/>
                    <a:lstStyle/>
                    <a:p>
                      <a:r>
                        <a:rPr lang="en-US" sz="1600" b="0"/>
                        <a:t>Kharif had the highest yield: 5.63 t/ha</a:t>
                      </a:r>
                    </a:p>
                  </a:txBody>
                  <a:tcPr anchor="ctr">
                    <a:lnL>
                      <a:noFill/>
                    </a:lnL>
                    <a:lnR>
                      <a:noFill/>
                    </a:lnR>
                    <a:lnT>
                      <a:noFill/>
                    </a:lnT>
                    <a:lnB>
                      <a:noFill/>
                    </a:lnB>
                  </a:tcPr>
                </a:tc>
              </a:tr>
              <a:tr h="0">
                <a:tc>
                  <a:txBody>
                    <a:bodyPr/>
                    <a:lstStyle/>
                    <a:p>
                      <a:r>
                        <a:rPr lang="en-US" sz="1600" b="0" dirty="0" smtClean="0"/>
                        <a:t> </a:t>
                      </a:r>
                      <a:r>
                        <a:rPr lang="en-US" sz="1600" b="0" dirty="0"/>
                        <a:t>Seasonal Profit</a:t>
                      </a:r>
                    </a:p>
                  </a:txBody>
                  <a:tcPr anchor="ctr">
                    <a:lnL>
                      <a:noFill/>
                    </a:lnL>
                    <a:lnR>
                      <a:noFill/>
                    </a:lnR>
                    <a:lnT>
                      <a:noFill/>
                    </a:lnT>
                    <a:lnB>
                      <a:noFill/>
                    </a:lnB>
                  </a:tcPr>
                </a:tc>
                <a:tc>
                  <a:txBody>
                    <a:bodyPr/>
                    <a:lstStyle/>
                    <a:p>
                      <a:r>
                        <a:rPr lang="en-US" sz="1600" b="0"/>
                        <a:t>Kharif was most profitable; Zaid showed a loss</a:t>
                      </a:r>
                    </a:p>
                  </a:txBody>
                  <a:tcPr anchor="ctr">
                    <a:lnL>
                      <a:noFill/>
                    </a:lnL>
                    <a:lnR>
                      <a:noFill/>
                    </a:lnR>
                    <a:lnT>
                      <a:noFill/>
                    </a:lnT>
                    <a:lnB>
                      <a:noFill/>
                    </a:lnB>
                  </a:tcPr>
                </a:tc>
              </a:tr>
              <a:tr h="0">
                <a:tc>
                  <a:txBody>
                    <a:bodyPr/>
                    <a:lstStyle/>
                    <a:p>
                      <a:r>
                        <a:rPr lang="en-US" sz="1600" b="0" dirty="0" smtClean="0"/>
                        <a:t> </a:t>
                      </a:r>
                      <a:r>
                        <a:rPr lang="en-US" sz="1600" b="0" dirty="0"/>
                        <a:t>Crop Profitability</a:t>
                      </a:r>
                    </a:p>
                  </a:txBody>
                  <a:tcPr anchor="ctr">
                    <a:lnL>
                      <a:noFill/>
                    </a:lnL>
                    <a:lnR>
                      <a:noFill/>
                    </a:lnR>
                    <a:lnT>
                      <a:noFill/>
                    </a:lnT>
                    <a:lnB>
                      <a:noFill/>
                    </a:lnB>
                  </a:tcPr>
                </a:tc>
                <a:tc>
                  <a:txBody>
                    <a:bodyPr/>
                    <a:lstStyle/>
                    <a:p>
                      <a:r>
                        <a:rPr lang="en-US" sz="1600" b="0"/>
                        <a:t>Sugarcane &amp; Chilli were the top profitable crops</a:t>
                      </a:r>
                    </a:p>
                  </a:txBody>
                  <a:tcPr anchor="ctr">
                    <a:lnL>
                      <a:noFill/>
                    </a:lnL>
                    <a:lnR>
                      <a:noFill/>
                    </a:lnR>
                    <a:lnT>
                      <a:noFill/>
                    </a:lnT>
                    <a:lnB>
                      <a:noFill/>
                    </a:lnB>
                  </a:tcPr>
                </a:tc>
              </a:tr>
              <a:tr h="0">
                <a:tc>
                  <a:txBody>
                    <a:bodyPr/>
                    <a:lstStyle/>
                    <a:p>
                      <a:r>
                        <a:rPr lang="en-US" sz="1600" b="0" dirty="0" smtClean="0"/>
                        <a:t> </a:t>
                      </a:r>
                      <a:r>
                        <a:rPr lang="en-US" sz="1600" b="0" dirty="0"/>
                        <a:t>Irrigation </a:t>
                      </a:r>
                      <a:r>
                        <a:rPr lang="en-US" sz="1600" b="0" dirty="0" err="1"/>
                        <a:t>vs</a:t>
                      </a:r>
                      <a:r>
                        <a:rPr lang="en-US" sz="1600" b="0" dirty="0"/>
                        <a:t> Yield</a:t>
                      </a:r>
                    </a:p>
                  </a:txBody>
                  <a:tcPr anchor="ctr">
                    <a:lnL>
                      <a:noFill/>
                    </a:lnL>
                    <a:lnR>
                      <a:noFill/>
                    </a:lnR>
                    <a:lnT>
                      <a:noFill/>
                    </a:lnT>
                    <a:lnB>
                      <a:noFill/>
                    </a:lnB>
                  </a:tcPr>
                </a:tc>
                <a:tc>
                  <a:txBody>
                    <a:bodyPr/>
                    <a:lstStyle/>
                    <a:p>
                      <a:r>
                        <a:rPr lang="en-US" sz="1600" b="0" dirty="0"/>
                        <a:t>Drip irrigation recorded 6.58 t/ha average yield</a:t>
                      </a:r>
                    </a:p>
                  </a:txBody>
                  <a:tcPr anchor="ctr">
                    <a:lnL>
                      <a:noFill/>
                    </a:lnL>
                    <a:lnR>
                      <a:noFill/>
                    </a:lnR>
                    <a:lnT>
                      <a:noFill/>
                    </a:lnT>
                    <a:lnB>
                      <a:noFill/>
                    </a:lnB>
                  </a:tcPr>
                </a:tc>
              </a:tr>
              <a:tr h="0">
                <a:tc>
                  <a:txBody>
                    <a:bodyPr/>
                    <a:lstStyle/>
                    <a:p>
                      <a:r>
                        <a:rPr lang="en-US" sz="1600" b="0" dirty="0" smtClean="0"/>
                        <a:t> </a:t>
                      </a:r>
                      <a:r>
                        <a:rPr lang="en-US" sz="1600" b="0" dirty="0"/>
                        <a:t>Rainfall </a:t>
                      </a:r>
                      <a:r>
                        <a:rPr lang="en-US" sz="1600" b="0" dirty="0" err="1"/>
                        <a:t>vs</a:t>
                      </a:r>
                      <a:r>
                        <a:rPr lang="en-US" sz="1600" b="0" dirty="0"/>
                        <a:t> Yield</a:t>
                      </a:r>
                    </a:p>
                  </a:txBody>
                  <a:tcPr anchor="ctr">
                    <a:lnL>
                      <a:noFill/>
                    </a:lnL>
                    <a:lnR>
                      <a:noFill/>
                    </a:lnR>
                    <a:lnT>
                      <a:noFill/>
                    </a:lnT>
                    <a:lnB>
                      <a:noFill/>
                    </a:lnB>
                  </a:tcPr>
                </a:tc>
                <a:tc>
                  <a:txBody>
                    <a:bodyPr/>
                    <a:lstStyle/>
                    <a:p>
                      <a:r>
                        <a:rPr lang="en-US" sz="1600" b="0" dirty="0"/>
                        <a:t>Very weak linear relationship (r ≈ 0.031)</a:t>
                      </a:r>
                    </a:p>
                  </a:txBody>
                  <a:tcPr anchor="ctr">
                    <a:lnL>
                      <a:noFill/>
                    </a:lnL>
                    <a:lnR>
                      <a:noFill/>
                    </a:lnR>
                    <a:lnT>
                      <a:noFill/>
                    </a:lnT>
                    <a:lnB>
                      <a:noFill/>
                    </a:lnB>
                  </a:tcPr>
                </a:tc>
              </a:tr>
              <a:tr h="0">
                <a:tc>
                  <a:txBody>
                    <a:bodyPr/>
                    <a:lstStyle/>
                    <a:p>
                      <a:r>
                        <a:rPr lang="en-US" sz="1600" b="0" dirty="0" smtClean="0"/>
                        <a:t> </a:t>
                      </a:r>
                      <a:r>
                        <a:rPr lang="en-US" sz="1600" b="0" dirty="0"/>
                        <a:t>Correlation Analysis</a:t>
                      </a:r>
                    </a:p>
                  </a:txBody>
                  <a:tcPr anchor="ctr">
                    <a:lnL>
                      <a:noFill/>
                    </a:lnL>
                    <a:lnR>
                      <a:noFill/>
                    </a:lnR>
                    <a:lnT>
                      <a:noFill/>
                    </a:lnT>
                    <a:lnB>
                      <a:noFill/>
                    </a:lnB>
                  </a:tcPr>
                </a:tc>
                <a:tc>
                  <a:txBody>
                    <a:bodyPr/>
                    <a:lstStyle/>
                    <a:p>
                      <a:r>
                        <a:rPr lang="en-US" sz="1600" b="0" dirty="0"/>
                        <a:t>Water efficiency and yield showed a strong relationship (r = 0.913)</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xmlns=""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6D5AF756-BADB-9E87-14AC-F87A8C7463BF}"/>
              </a:ext>
            </a:extLst>
          </p:cNvPr>
          <p:cNvSpPr>
            <a:spLocks noGrp="1"/>
          </p:cNvSpPr>
          <p:nvPr>
            <p:ph type="title"/>
          </p:nvPr>
        </p:nvSpPr>
        <p:spPr>
          <a:xfrm>
            <a:off x="675957" y="370589"/>
            <a:ext cx="2981643" cy="830997"/>
          </a:xfrm>
        </p:spPr>
        <p:txBody>
          <a:bodyPr wrap="square">
            <a:normAutofit fontScale="90000"/>
          </a:bodyPr>
          <a:lstStyle/>
          <a:p>
            <a:r>
              <a:rPr sz="2600" b="1"/>
              <a:t>Seasonal Yield Comparison</a:t>
            </a:r>
            <a:endParaRPr lang="en-IN" dirty="0"/>
          </a:p>
        </p:txBody>
      </p:sp>
      <p:sp>
        <p:nvSpPr>
          <p:cNvPr id="7" name="Text Placeholder 30">
            <a:extLst>
              <a:ext uri="{FF2B5EF4-FFF2-40B4-BE49-F238E27FC236}">
                <a16:creationId xmlns:a16="http://schemas.microsoft.com/office/drawing/2014/main" xmlns=""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descr="season_yield.png"/>
          <p:cNvPicPr>
            <a:picLocks noChangeAspect="1"/>
          </p:cNvPicPr>
          <p:nvPr/>
        </p:nvPicPr>
        <p:blipFill>
          <a:blip r:embed="rId2"/>
          <a:stretch>
            <a:fillRect/>
          </a:stretch>
        </p:blipFill>
        <p:spPr>
          <a:xfrm>
            <a:off x="685800" y="1417320"/>
            <a:ext cx="6720840" cy="4343400"/>
          </a:xfrm>
          <a:prstGeom prst="rect">
            <a:avLst/>
          </a:prstGeom>
        </p:spPr>
      </p:pic>
      <p:sp>
        <p:nvSpPr>
          <p:cNvPr id="10" name="TextBox 9"/>
          <p:cNvSpPr txBox="1"/>
          <p:nvPr/>
        </p:nvSpPr>
        <p:spPr>
          <a:xfrm>
            <a:off x="7635240" y="1554480"/>
            <a:ext cx="3794760" cy="4480560"/>
          </a:xfrm>
          <a:prstGeom prst="rect">
            <a:avLst/>
          </a:prstGeom>
          <a:noFill/>
        </p:spPr>
        <p:txBody>
          <a:bodyPr wrap="square"/>
          <a:lstStyle/>
          <a:p>
            <a:pPr>
              <a:lnSpc>
                <a:spcPct val="105000"/>
              </a:lnSpc>
              <a:spcAft>
                <a:spcPts val="1000"/>
              </a:spcAft>
              <a:defRPr sz="1800"/>
            </a:pPr>
            <a:r>
              <a:rPr sz="1800" b="0"/>
              <a:t>Kharif recorded the highest average yield at 5.63 t/ha.</a:t>
            </a:r>
          </a:p>
          <a:p>
            <a:pPr>
              <a:lnSpc>
                <a:spcPct val="105000"/>
              </a:lnSpc>
              <a:spcAft>
                <a:spcPts val="1000"/>
              </a:spcAft>
              <a:defRPr sz="1800"/>
            </a:pPr>
            <a:r>
              <a:rPr sz="1800" b="0"/>
              <a:t>Rabi averaged 5.04 t/ha, while Zaid averaged 4.64 t/ha.</a:t>
            </a:r>
          </a:p>
          <a:p>
            <a:pPr>
              <a:lnSpc>
                <a:spcPct val="105000"/>
              </a:lnSpc>
              <a:spcAft>
                <a:spcPts val="1000"/>
              </a:spcAft>
              <a:defRPr sz="1800"/>
            </a:pPr>
            <a:r>
              <a:rPr sz="1800" b="0"/>
              <a:t>The result shows a clear difference in average productivity across seasons.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6D5AF756-BADB-9E87-14AC-F87A8C7463BF}"/>
              </a:ext>
            </a:extLst>
          </p:cNvPr>
          <p:cNvSpPr>
            <a:spLocks noGrp="1"/>
          </p:cNvSpPr>
          <p:nvPr>
            <p:ph type="title"/>
          </p:nvPr>
        </p:nvSpPr>
        <p:spPr>
          <a:xfrm>
            <a:off x="675957" y="370589"/>
            <a:ext cx="2981643" cy="830997"/>
          </a:xfrm>
        </p:spPr>
        <p:txBody>
          <a:bodyPr wrap="square">
            <a:normAutofit fontScale="90000"/>
          </a:bodyPr>
          <a:lstStyle/>
          <a:p>
            <a:r>
              <a:rPr sz="2600" b="1"/>
              <a:t>Seasonal Profit Comparison</a:t>
            </a:r>
            <a:endParaRPr lang="en-IN" dirty="0"/>
          </a:p>
        </p:txBody>
      </p:sp>
      <p:sp>
        <p:nvSpPr>
          <p:cNvPr id="7" name="Text Placeholder 30">
            <a:extLst>
              <a:ext uri="{FF2B5EF4-FFF2-40B4-BE49-F238E27FC236}">
                <a16:creationId xmlns:a16="http://schemas.microsoft.com/office/drawing/2014/main" xmlns=""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descr="season_profit.png"/>
          <p:cNvPicPr>
            <a:picLocks noChangeAspect="1"/>
          </p:cNvPicPr>
          <p:nvPr/>
        </p:nvPicPr>
        <p:blipFill>
          <a:blip r:embed="rId2"/>
          <a:stretch>
            <a:fillRect/>
          </a:stretch>
        </p:blipFill>
        <p:spPr>
          <a:xfrm>
            <a:off x="685800" y="1417320"/>
            <a:ext cx="6720840" cy="4343400"/>
          </a:xfrm>
          <a:prstGeom prst="rect">
            <a:avLst/>
          </a:prstGeom>
        </p:spPr>
      </p:pic>
      <p:sp>
        <p:nvSpPr>
          <p:cNvPr id="10" name="TextBox 9"/>
          <p:cNvSpPr txBox="1"/>
          <p:nvPr/>
        </p:nvSpPr>
        <p:spPr>
          <a:xfrm>
            <a:off x="7635240" y="1554480"/>
            <a:ext cx="3794760" cy="4480560"/>
          </a:xfrm>
          <a:prstGeom prst="rect">
            <a:avLst/>
          </a:prstGeom>
          <a:noFill/>
        </p:spPr>
        <p:txBody>
          <a:bodyPr wrap="square"/>
          <a:lstStyle/>
          <a:p>
            <a:pPr>
              <a:lnSpc>
                <a:spcPct val="105000"/>
              </a:lnSpc>
              <a:spcAft>
                <a:spcPts val="1000"/>
              </a:spcAft>
              <a:defRPr sz="1800"/>
            </a:pPr>
            <a:r>
              <a:rPr sz="1800" b="0"/>
              <a:t>Kharif had the highest average profit at ₹1,78,914.65.</a:t>
            </a:r>
          </a:p>
          <a:p>
            <a:pPr>
              <a:lnSpc>
                <a:spcPct val="105000"/>
              </a:lnSpc>
              <a:spcAft>
                <a:spcPts val="1000"/>
              </a:spcAft>
              <a:defRPr sz="1800"/>
            </a:pPr>
            <a:r>
              <a:rPr sz="1800" b="0"/>
              <a:t>Rabi recorded ₹87,689.47 average profit.</a:t>
            </a:r>
          </a:p>
          <a:p>
            <a:pPr>
              <a:lnSpc>
                <a:spcPct val="105000"/>
              </a:lnSpc>
              <a:spcAft>
                <a:spcPts val="1000"/>
              </a:spcAft>
              <a:defRPr sz="1800"/>
            </a:pPr>
            <a:r>
              <a:rPr sz="1800" b="0"/>
              <a:t>Zaid recorded an average loss of ₹24,804.82.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6D5AF756-BADB-9E87-14AC-F87A8C7463BF}"/>
              </a:ext>
            </a:extLst>
          </p:cNvPr>
          <p:cNvSpPr>
            <a:spLocks noGrp="1"/>
          </p:cNvSpPr>
          <p:nvPr>
            <p:ph type="title"/>
          </p:nvPr>
        </p:nvSpPr>
        <p:spPr>
          <a:xfrm>
            <a:off x="675957" y="370589"/>
            <a:ext cx="2981643" cy="830997"/>
          </a:xfrm>
        </p:spPr>
        <p:txBody>
          <a:bodyPr wrap="square">
            <a:normAutofit fontScale="90000"/>
          </a:bodyPr>
          <a:lstStyle/>
          <a:p>
            <a:r>
              <a:rPr sz="2600" b="1"/>
              <a:t>Crop-wise Profitability</a:t>
            </a:r>
            <a:endParaRPr lang="en-IN" dirty="0"/>
          </a:p>
        </p:txBody>
      </p:sp>
      <p:sp>
        <p:nvSpPr>
          <p:cNvPr id="7" name="Text Placeholder 30">
            <a:extLst>
              <a:ext uri="{FF2B5EF4-FFF2-40B4-BE49-F238E27FC236}">
                <a16:creationId xmlns:a16="http://schemas.microsoft.com/office/drawing/2014/main" xmlns=""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descr="crop_profit.png"/>
          <p:cNvPicPr>
            <a:picLocks noChangeAspect="1"/>
          </p:cNvPicPr>
          <p:nvPr/>
        </p:nvPicPr>
        <p:blipFill>
          <a:blip r:embed="rId2"/>
          <a:stretch>
            <a:fillRect/>
          </a:stretch>
        </p:blipFill>
        <p:spPr>
          <a:xfrm>
            <a:off x="685800" y="1417320"/>
            <a:ext cx="6720840" cy="4343400"/>
          </a:xfrm>
          <a:prstGeom prst="rect">
            <a:avLst/>
          </a:prstGeom>
        </p:spPr>
      </p:pic>
      <p:sp>
        <p:nvSpPr>
          <p:cNvPr id="10" name="TextBox 9"/>
          <p:cNvSpPr txBox="1"/>
          <p:nvPr/>
        </p:nvSpPr>
        <p:spPr>
          <a:xfrm>
            <a:off x="7635240" y="1554480"/>
            <a:ext cx="3794760" cy="4480560"/>
          </a:xfrm>
          <a:prstGeom prst="rect">
            <a:avLst/>
          </a:prstGeom>
          <a:noFill/>
        </p:spPr>
        <p:txBody>
          <a:bodyPr wrap="square"/>
          <a:lstStyle/>
          <a:p>
            <a:pPr>
              <a:lnSpc>
                <a:spcPct val="105000"/>
              </a:lnSpc>
              <a:spcAft>
                <a:spcPts val="1000"/>
              </a:spcAft>
              <a:defRPr sz="1800"/>
            </a:pPr>
            <a:r>
              <a:rPr sz="1800" b="0"/>
              <a:t>Sugarcane had the highest average profit at ₹8,17,187.99.</a:t>
            </a:r>
          </a:p>
          <a:p>
            <a:pPr>
              <a:lnSpc>
                <a:spcPct val="105000"/>
              </a:lnSpc>
              <a:spcAft>
                <a:spcPts val="1000"/>
              </a:spcAft>
              <a:defRPr sz="1800"/>
            </a:pPr>
            <a:r>
              <a:rPr sz="1800" b="0"/>
              <a:t>Chilli followed with ₹7,50,878.34.</a:t>
            </a:r>
          </a:p>
          <a:p>
            <a:pPr>
              <a:lnSpc>
                <a:spcPct val="105000"/>
              </a:lnSpc>
              <a:spcAft>
                <a:spcPts val="1000"/>
              </a:spcAft>
              <a:defRPr sz="1800"/>
            </a:pPr>
            <a:r>
              <a:rPr sz="1800" b="0"/>
              <a:t>Rice, Wheat and Maize showed negative average profit in the analyzed data.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6D5AF756-BADB-9E87-14AC-F87A8C7463BF}"/>
              </a:ext>
            </a:extLst>
          </p:cNvPr>
          <p:cNvSpPr>
            <a:spLocks noGrp="1"/>
          </p:cNvSpPr>
          <p:nvPr>
            <p:ph type="title"/>
          </p:nvPr>
        </p:nvSpPr>
        <p:spPr>
          <a:xfrm>
            <a:off x="675957" y="370589"/>
            <a:ext cx="2981643" cy="830997"/>
          </a:xfrm>
        </p:spPr>
        <p:txBody>
          <a:bodyPr wrap="square">
            <a:normAutofit fontScale="90000"/>
          </a:bodyPr>
          <a:lstStyle/>
          <a:p>
            <a:r>
              <a:rPr sz="2600" b="1"/>
              <a:t>Irrigation and Yield</a:t>
            </a:r>
            <a:endParaRPr lang="en-IN" dirty="0"/>
          </a:p>
        </p:txBody>
      </p:sp>
      <p:sp>
        <p:nvSpPr>
          <p:cNvPr id="7" name="Text Placeholder 30">
            <a:extLst>
              <a:ext uri="{FF2B5EF4-FFF2-40B4-BE49-F238E27FC236}">
                <a16:creationId xmlns:a16="http://schemas.microsoft.com/office/drawing/2014/main" xmlns=""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descr="irrigation_yield.png"/>
          <p:cNvPicPr>
            <a:picLocks noChangeAspect="1"/>
          </p:cNvPicPr>
          <p:nvPr/>
        </p:nvPicPr>
        <p:blipFill>
          <a:blip r:embed="rId2"/>
          <a:stretch>
            <a:fillRect/>
          </a:stretch>
        </p:blipFill>
        <p:spPr>
          <a:xfrm>
            <a:off x="685800" y="1417320"/>
            <a:ext cx="6720840" cy="4343400"/>
          </a:xfrm>
          <a:prstGeom prst="rect">
            <a:avLst/>
          </a:prstGeom>
        </p:spPr>
      </p:pic>
      <p:sp>
        <p:nvSpPr>
          <p:cNvPr id="10" name="TextBox 9"/>
          <p:cNvSpPr txBox="1"/>
          <p:nvPr/>
        </p:nvSpPr>
        <p:spPr>
          <a:xfrm>
            <a:off x="7635240" y="1554480"/>
            <a:ext cx="3794760" cy="4480560"/>
          </a:xfrm>
          <a:prstGeom prst="rect">
            <a:avLst/>
          </a:prstGeom>
          <a:noFill/>
        </p:spPr>
        <p:txBody>
          <a:bodyPr wrap="square"/>
          <a:lstStyle/>
          <a:p>
            <a:pPr>
              <a:lnSpc>
                <a:spcPct val="105000"/>
              </a:lnSpc>
              <a:spcAft>
                <a:spcPts val="1000"/>
              </a:spcAft>
              <a:defRPr sz="1800"/>
            </a:pPr>
            <a:r>
              <a:rPr sz="1800" b="0"/>
              <a:t>Drip irrigation recorded the highest average yield at 6.58 t/ha.</a:t>
            </a:r>
          </a:p>
          <a:p>
            <a:pPr>
              <a:lnSpc>
                <a:spcPct val="105000"/>
              </a:lnSpc>
              <a:spcAft>
                <a:spcPts val="1000"/>
              </a:spcAft>
              <a:defRPr sz="1800"/>
            </a:pPr>
            <a:r>
              <a:rPr sz="1800" b="0"/>
              <a:t>Its average profit was ₹2,19,626.</a:t>
            </a:r>
          </a:p>
          <a:p>
            <a:pPr>
              <a:lnSpc>
                <a:spcPct val="105000"/>
              </a:lnSpc>
              <a:spcAft>
                <a:spcPts val="1000"/>
              </a:spcAft>
              <a:defRPr sz="1800"/>
            </a:pPr>
            <a:r>
              <a:rPr sz="1800" b="0"/>
              <a:t>Rainfed showed the highest water-efficiency value, but its yield and profit were lower than Drip.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6D5AF756-BADB-9E87-14AC-F87A8C7463BF}"/>
              </a:ext>
            </a:extLst>
          </p:cNvPr>
          <p:cNvSpPr>
            <a:spLocks noGrp="1"/>
          </p:cNvSpPr>
          <p:nvPr>
            <p:ph type="title"/>
          </p:nvPr>
        </p:nvSpPr>
        <p:spPr>
          <a:xfrm>
            <a:off x="675957" y="370589"/>
            <a:ext cx="2981643" cy="830997"/>
          </a:xfrm>
        </p:spPr>
        <p:txBody>
          <a:bodyPr wrap="square">
            <a:normAutofit fontScale="90000"/>
          </a:bodyPr>
          <a:lstStyle/>
          <a:p>
            <a:r>
              <a:rPr sz="2600" b="1"/>
              <a:t>Environmental Relationship: Rainfall and Yield</a:t>
            </a:r>
            <a:endParaRPr lang="en-IN" dirty="0"/>
          </a:p>
        </p:txBody>
      </p:sp>
      <p:sp>
        <p:nvSpPr>
          <p:cNvPr id="7" name="Text Placeholder 30">
            <a:extLst>
              <a:ext uri="{FF2B5EF4-FFF2-40B4-BE49-F238E27FC236}">
                <a16:creationId xmlns:a16="http://schemas.microsoft.com/office/drawing/2014/main" xmlns=""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descr="rain_yield.png"/>
          <p:cNvPicPr>
            <a:picLocks noChangeAspect="1"/>
          </p:cNvPicPr>
          <p:nvPr/>
        </p:nvPicPr>
        <p:blipFill>
          <a:blip r:embed="rId2"/>
          <a:stretch>
            <a:fillRect/>
          </a:stretch>
        </p:blipFill>
        <p:spPr>
          <a:xfrm>
            <a:off x="685800" y="1417320"/>
            <a:ext cx="6720840" cy="4343400"/>
          </a:xfrm>
          <a:prstGeom prst="rect">
            <a:avLst/>
          </a:prstGeom>
        </p:spPr>
      </p:pic>
      <p:sp>
        <p:nvSpPr>
          <p:cNvPr id="10" name="TextBox 9"/>
          <p:cNvSpPr txBox="1"/>
          <p:nvPr/>
        </p:nvSpPr>
        <p:spPr>
          <a:xfrm>
            <a:off x="7635240" y="1554480"/>
            <a:ext cx="3794760" cy="4480560"/>
          </a:xfrm>
          <a:prstGeom prst="rect">
            <a:avLst/>
          </a:prstGeom>
          <a:noFill/>
        </p:spPr>
        <p:txBody>
          <a:bodyPr wrap="square"/>
          <a:lstStyle/>
          <a:p>
            <a:pPr>
              <a:lnSpc>
                <a:spcPct val="105000"/>
              </a:lnSpc>
              <a:spcAft>
                <a:spcPts val="1000"/>
              </a:spcAft>
              <a:defRPr sz="1800"/>
            </a:pPr>
            <a:r>
              <a:rPr sz="1800" b="0"/>
              <a:t>Rainfall was examined against yield to understand environmental relationships.</a:t>
            </a:r>
          </a:p>
          <a:p>
            <a:pPr>
              <a:lnSpc>
                <a:spcPct val="105000"/>
              </a:lnSpc>
              <a:spcAft>
                <a:spcPts val="1000"/>
              </a:spcAft>
              <a:defRPr sz="1800"/>
            </a:pPr>
            <a:r>
              <a:rPr sz="1800" b="0"/>
              <a:t>The correlation between rainfall and yield was weak at about 0.031.</a:t>
            </a:r>
          </a:p>
          <a:p>
            <a:pPr>
              <a:lnSpc>
                <a:spcPct val="105000"/>
              </a:lnSpc>
              <a:spcAft>
                <a:spcPts val="1000"/>
              </a:spcAft>
              <a:defRPr sz="1800"/>
            </a:pPr>
            <a:r>
              <a:rPr sz="1800" b="0"/>
              <a:t>This suggests rainfall alone does not explain yield differences in this dataset.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6D5AF756-BADB-9E87-14AC-F87A8C7463BF}"/>
              </a:ext>
            </a:extLst>
          </p:cNvPr>
          <p:cNvSpPr>
            <a:spLocks noGrp="1"/>
          </p:cNvSpPr>
          <p:nvPr>
            <p:ph type="title"/>
          </p:nvPr>
        </p:nvSpPr>
        <p:spPr>
          <a:xfrm>
            <a:off x="675957" y="370589"/>
            <a:ext cx="2981643" cy="830997"/>
          </a:xfrm>
        </p:spPr>
        <p:txBody>
          <a:bodyPr wrap="square">
            <a:normAutofit fontScale="90000"/>
          </a:bodyPr>
          <a:lstStyle/>
          <a:p>
            <a:r>
              <a:rPr sz="2600" b="1"/>
              <a:t>Correlation Analysis</a:t>
            </a:r>
            <a:endParaRPr lang="en-IN" dirty="0"/>
          </a:p>
        </p:txBody>
      </p:sp>
      <p:sp>
        <p:nvSpPr>
          <p:cNvPr id="7" name="Text Placeholder 30">
            <a:extLst>
              <a:ext uri="{FF2B5EF4-FFF2-40B4-BE49-F238E27FC236}">
                <a16:creationId xmlns:a16="http://schemas.microsoft.com/office/drawing/2014/main" xmlns=""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descr="correlation.png"/>
          <p:cNvPicPr>
            <a:picLocks noChangeAspect="1"/>
          </p:cNvPicPr>
          <p:nvPr/>
        </p:nvPicPr>
        <p:blipFill>
          <a:blip r:embed="rId2"/>
          <a:stretch>
            <a:fillRect/>
          </a:stretch>
        </p:blipFill>
        <p:spPr>
          <a:xfrm>
            <a:off x="685800" y="1417320"/>
            <a:ext cx="6720840" cy="4800600"/>
          </a:xfrm>
          <a:prstGeom prst="rect">
            <a:avLst/>
          </a:prstGeom>
        </p:spPr>
      </p:pic>
      <p:sp>
        <p:nvSpPr>
          <p:cNvPr id="10" name="TextBox 9"/>
          <p:cNvSpPr txBox="1"/>
          <p:nvPr/>
        </p:nvSpPr>
        <p:spPr>
          <a:xfrm>
            <a:off x="7635240" y="1554480"/>
            <a:ext cx="3794760" cy="4480560"/>
          </a:xfrm>
          <a:prstGeom prst="rect">
            <a:avLst/>
          </a:prstGeom>
          <a:noFill/>
        </p:spPr>
        <p:txBody>
          <a:bodyPr wrap="square"/>
          <a:lstStyle/>
          <a:p>
            <a:pPr>
              <a:lnSpc>
                <a:spcPct val="105000"/>
              </a:lnSpc>
              <a:spcAft>
                <a:spcPts val="1000"/>
              </a:spcAft>
              <a:defRPr sz="1800"/>
            </a:pPr>
            <a:r>
              <a:rPr sz="1800" b="0"/>
              <a:t>Water efficiency had a strong positive correlation with yield: 0.913.</a:t>
            </a:r>
          </a:p>
          <a:p>
            <a:pPr>
              <a:lnSpc>
                <a:spcPct val="105000"/>
              </a:lnSpc>
              <a:spcAft>
                <a:spcPts val="1000"/>
              </a:spcAft>
              <a:defRPr sz="1800"/>
            </a:pPr>
            <a:r>
              <a:rPr sz="1800" b="0"/>
              <a:t>Production also had a strong relationship with yield: 0.883.</a:t>
            </a:r>
          </a:p>
          <a:p>
            <a:pPr>
              <a:lnSpc>
                <a:spcPct val="105000"/>
              </a:lnSpc>
              <a:spcAft>
                <a:spcPts val="1000"/>
              </a:spcAft>
              <a:defRPr sz="1800"/>
            </a:pPr>
            <a:r>
              <a:rPr sz="1800" b="0"/>
              <a:t>Revenue showed a strong positive relationship with profit: 0.887.</a:t>
            </a:r>
          </a:p>
          <a:p>
            <a:pPr>
              <a:lnSpc>
                <a:spcPct val="105000"/>
              </a:lnSpc>
              <a:spcAft>
                <a:spcPts val="1000"/>
              </a:spcAft>
              <a:defRPr sz="1800"/>
            </a:pPr>
            <a:r>
              <a:rPr sz="1800" b="0"/>
              <a:t>Correlation indicates association, not direct causation.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6D5AF756-BADB-9E87-14AC-F87A8C7463BF}"/>
              </a:ext>
            </a:extLst>
          </p:cNvPr>
          <p:cNvSpPr>
            <a:spLocks noGrp="1"/>
          </p:cNvSpPr>
          <p:nvPr>
            <p:ph type="title"/>
          </p:nvPr>
        </p:nvSpPr>
        <p:spPr>
          <a:xfrm>
            <a:off x="675957" y="370589"/>
            <a:ext cx="2981643" cy="830997"/>
          </a:xfrm>
        </p:spPr>
        <p:txBody>
          <a:bodyPr wrap="square">
            <a:normAutofit fontScale="90000"/>
          </a:bodyPr>
          <a:lstStyle/>
          <a:p>
            <a:r>
              <a:rPr sz="2600" b="1"/>
              <a:t>Regional Profit Comparison</a:t>
            </a:r>
            <a:endParaRPr lang="en-IN" dirty="0"/>
          </a:p>
        </p:txBody>
      </p:sp>
      <p:sp>
        <p:nvSpPr>
          <p:cNvPr id="7" name="Text Placeholder 30">
            <a:extLst>
              <a:ext uri="{FF2B5EF4-FFF2-40B4-BE49-F238E27FC236}">
                <a16:creationId xmlns:a16="http://schemas.microsoft.com/office/drawing/2014/main" xmlns=""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descr="state_profit.png"/>
          <p:cNvPicPr>
            <a:picLocks noChangeAspect="1"/>
          </p:cNvPicPr>
          <p:nvPr/>
        </p:nvPicPr>
        <p:blipFill>
          <a:blip r:embed="rId2"/>
          <a:stretch>
            <a:fillRect/>
          </a:stretch>
        </p:blipFill>
        <p:spPr>
          <a:xfrm>
            <a:off x="685800" y="1417320"/>
            <a:ext cx="6720840" cy="4800600"/>
          </a:xfrm>
          <a:prstGeom prst="rect">
            <a:avLst/>
          </a:prstGeom>
        </p:spPr>
      </p:pic>
      <p:sp>
        <p:nvSpPr>
          <p:cNvPr id="10" name="TextBox 9"/>
          <p:cNvSpPr txBox="1"/>
          <p:nvPr/>
        </p:nvSpPr>
        <p:spPr>
          <a:xfrm>
            <a:off x="7635240" y="1554480"/>
            <a:ext cx="3794760" cy="4480560"/>
          </a:xfrm>
          <a:prstGeom prst="rect">
            <a:avLst/>
          </a:prstGeom>
          <a:noFill/>
        </p:spPr>
        <p:txBody>
          <a:bodyPr wrap="square"/>
          <a:lstStyle/>
          <a:p>
            <a:pPr>
              <a:lnSpc>
                <a:spcPct val="105000"/>
              </a:lnSpc>
              <a:spcAft>
                <a:spcPts val="1000"/>
              </a:spcAft>
              <a:defRPr sz="1800"/>
            </a:pPr>
            <a:r>
              <a:rPr sz="1800" b="0"/>
              <a:t>The dataset includes 8 states and 10 districts.</a:t>
            </a:r>
          </a:p>
          <a:p>
            <a:pPr>
              <a:lnSpc>
                <a:spcPct val="105000"/>
              </a:lnSpc>
              <a:spcAft>
                <a:spcPts val="1000"/>
              </a:spcAft>
              <a:defRPr sz="1800"/>
            </a:pPr>
            <a:r>
              <a:rPr sz="1800" b="0"/>
              <a:t>Regional averages were compared to identify differences in profitability.</a:t>
            </a:r>
          </a:p>
          <a:p>
            <a:pPr>
              <a:lnSpc>
                <a:spcPct val="105000"/>
              </a:lnSpc>
              <a:spcAft>
                <a:spcPts val="1000"/>
              </a:spcAft>
              <a:defRPr sz="1800"/>
            </a:pPr>
            <a:r>
              <a:rPr sz="1800" b="0"/>
              <a:t>This view can help identify locations that deserve further investigation.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6D5AF756-BADB-9E87-14AC-F87A8C7463BF}"/>
              </a:ext>
            </a:extLst>
          </p:cNvPr>
          <p:cNvSpPr>
            <a:spLocks noGrp="1"/>
          </p:cNvSpPr>
          <p:nvPr>
            <p:ph type="title"/>
          </p:nvPr>
        </p:nvSpPr>
        <p:spPr>
          <a:xfrm>
            <a:off x="675957" y="370589"/>
            <a:ext cx="2981643" cy="830997"/>
          </a:xfrm>
        </p:spPr>
        <p:txBody>
          <a:bodyPr wrap="square">
            <a:normAutofit fontScale="90000"/>
          </a:bodyPr>
          <a:lstStyle/>
          <a:p>
            <a:r>
              <a:rPr sz="2600" b="1"/>
              <a:t>Crop and Season Profit Pattern</a:t>
            </a:r>
            <a:endParaRPr lang="en-IN" dirty="0"/>
          </a:p>
        </p:txBody>
      </p:sp>
      <p:sp>
        <p:nvSpPr>
          <p:cNvPr id="7" name="Text Placeholder 30">
            <a:extLst>
              <a:ext uri="{FF2B5EF4-FFF2-40B4-BE49-F238E27FC236}">
                <a16:creationId xmlns:a16="http://schemas.microsoft.com/office/drawing/2014/main" xmlns=""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descr="crop_season_profit.png"/>
          <p:cNvPicPr>
            <a:picLocks noChangeAspect="1"/>
          </p:cNvPicPr>
          <p:nvPr/>
        </p:nvPicPr>
        <p:blipFill>
          <a:blip r:embed="rId2"/>
          <a:stretch>
            <a:fillRect/>
          </a:stretch>
        </p:blipFill>
        <p:spPr>
          <a:xfrm>
            <a:off x="685800" y="1417320"/>
            <a:ext cx="6720840" cy="4434840"/>
          </a:xfrm>
          <a:prstGeom prst="rect">
            <a:avLst/>
          </a:prstGeom>
        </p:spPr>
      </p:pic>
      <p:sp>
        <p:nvSpPr>
          <p:cNvPr id="10" name="TextBox 9"/>
          <p:cNvSpPr txBox="1"/>
          <p:nvPr/>
        </p:nvSpPr>
        <p:spPr>
          <a:xfrm>
            <a:off x="7635240" y="1554480"/>
            <a:ext cx="3794760" cy="4480560"/>
          </a:xfrm>
          <a:prstGeom prst="rect">
            <a:avLst/>
          </a:prstGeom>
          <a:noFill/>
        </p:spPr>
        <p:txBody>
          <a:bodyPr wrap="square"/>
          <a:lstStyle/>
          <a:p>
            <a:pPr>
              <a:lnSpc>
                <a:spcPct val="105000"/>
              </a:lnSpc>
              <a:spcAft>
                <a:spcPts val="1000"/>
              </a:spcAft>
              <a:defRPr sz="1800"/>
            </a:pPr>
            <a:r>
              <a:rPr sz="1800" b="0"/>
              <a:t>Sugarcane and Chilli were consistently among the strongest profit-generating crop groups.</a:t>
            </a:r>
          </a:p>
          <a:p>
            <a:pPr>
              <a:lnSpc>
                <a:spcPct val="105000"/>
              </a:lnSpc>
              <a:spcAft>
                <a:spcPts val="1000"/>
              </a:spcAft>
              <a:defRPr sz="1800"/>
            </a:pPr>
            <a:r>
              <a:rPr sz="1800" b="0"/>
              <a:t>Sugarcane + Kharif was the highest-profit crop-season combination in the analysis.</a:t>
            </a:r>
          </a:p>
          <a:p>
            <a:pPr>
              <a:lnSpc>
                <a:spcPct val="105000"/>
              </a:lnSpc>
              <a:spcAft>
                <a:spcPts val="1000"/>
              </a:spcAft>
              <a:defRPr sz="1800"/>
            </a:pPr>
            <a:r>
              <a:rPr sz="1800" b="0"/>
              <a:t>Crop performance changes across seasons, so crop selection should consider season as well.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3A64DB11-806F-1A4C-E0D5-D745D29CED50}"/>
              </a:ext>
            </a:extLst>
          </p:cNvPr>
          <p:cNvSpPr>
            <a:spLocks noGrp="1"/>
          </p:cNvSpPr>
          <p:nvPr>
            <p:ph type="body" sz="quarter" idx="12"/>
          </p:nvPr>
        </p:nvSpPr>
        <p:spPr>
          <a:xfrm>
            <a:off x="807163" y="1431692"/>
            <a:ext cx="10367655" cy="5160493"/>
          </a:xfrm>
        </p:spPr>
        <p:txBody>
          <a:bodyPr>
            <a:normAutofit fontScale="92500" lnSpcReduction="10000"/>
          </a:bodyPr>
          <a:lstStyle/>
          <a:p>
            <a:pPr marL="0" indent="0">
              <a:buNone/>
            </a:pPr>
            <a:r>
              <a:rPr lang="en-IN" b="1" dirty="0" smtClean="0">
                <a:solidFill>
                  <a:schemeClr val="tx1"/>
                </a:solidFill>
              </a:rPr>
              <a:t>Overview:</a:t>
            </a:r>
          </a:p>
          <a:p>
            <a:r>
              <a:rPr lang="en-US" b="1" dirty="0" smtClean="0"/>
              <a:t>1. Seasonal Performance</a:t>
            </a:r>
            <a:r>
              <a:rPr lang="en-US" dirty="0" smtClean="0"/>
              <a:t/>
            </a:r>
            <a:br>
              <a:rPr lang="en-US" dirty="0" smtClean="0"/>
            </a:br>
            <a:r>
              <a:rPr lang="en-US" dirty="0" err="1" smtClean="0"/>
              <a:t>Kharif</a:t>
            </a:r>
            <a:r>
              <a:rPr lang="en-US" dirty="0" smtClean="0"/>
              <a:t> recorded the highest average yield (</a:t>
            </a:r>
            <a:r>
              <a:rPr lang="en-US" b="1" dirty="0" smtClean="0"/>
              <a:t>5.63 t/ha</a:t>
            </a:r>
            <a:r>
              <a:rPr lang="en-US" dirty="0" smtClean="0"/>
              <a:t>) and profit (</a:t>
            </a:r>
            <a:r>
              <a:rPr lang="en-US" b="1" dirty="0" smtClean="0"/>
              <a:t>₹1.79 </a:t>
            </a:r>
            <a:r>
              <a:rPr lang="en-US" b="1" dirty="0" err="1" smtClean="0"/>
              <a:t>lakh</a:t>
            </a:r>
            <a:r>
              <a:rPr lang="en-US" dirty="0" smtClean="0"/>
              <a:t>).</a:t>
            </a:r>
            <a:br>
              <a:rPr lang="en-US" dirty="0" smtClean="0"/>
            </a:br>
            <a:r>
              <a:rPr lang="en-US" dirty="0" err="1" smtClean="0"/>
              <a:t>Zaid</a:t>
            </a:r>
            <a:r>
              <a:rPr lang="en-US" dirty="0" smtClean="0"/>
              <a:t> performed weakest, with </a:t>
            </a:r>
            <a:r>
              <a:rPr lang="en-US" b="1" dirty="0" smtClean="0"/>
              <a:t>4.64 t/ha yield</a:t>
            </a:r>
            <a:r>
              <a:rPr lang="en-US" dirty="0" smtClean="0"/>
              <a:t> and an average loss of </a:t>
            </a:r>
            <a:r>
              <a:rPr lang="en-US" b="1" dirty="0" smtClean="0"/>
              <a:t>₹24,805</a:t>
            </a:r>
            <a:r>
              <a:rPr lang="en-US" dirty="0" smtClean="0"/>
              <a:t>.</a:t>
            </a:r>
          </a:p>
          <a:p>
            <a:r>
              <a:rPr lang="en-US" b="1" dirty="0" smtClean="0"/>
              <a:t>2. Crop Profitability</a:t>
            </a:r>
            <a:r>
              <a:rPr lang="en-US" dirty="0" smtClean="0"/>
              <a:t/>
            </a:r>
            <a:br>
              <a:rPr lang="en-US" dirty="0" smtClean="0"/>
            </a:br>
            <a:r>
              <a:rPr lang="en-US" dirty="0" smtClean="0"/>
              <a:t>Sugarcane (</a:t>
            </a:r>
            <a:r>
              <a:rPr lang="en-US" b="1" dirty="0" smtClean="0"/>
              <a:t>₹8.17 </a:t>
            </a:r>
            <a:r>
              <a:rPr lang="en-US" b="1" dirty="0" err="1" smtClean="0"/>
              <a:t>lakh</a:t>
            </a:r>
            <a:r>
              <a:rPr lang="en-US" dirty="0" smtClean="0"/>
              <a:t>) and </a:t>
            </a:r>
            <a:r>
              <a:rPr lang="en-US" dirty="0" err="1" smtClean="0"/>
              <a:t>Chilli</a:t>
            </a:r>
            <a:r>
              <a:rPr lang="en-US" dirty="0" smtClean="0"/>
              <a:t> (</a:t>
            </a:r>
            <a:r>
              <a:rPr lang="en-US" b="1" dirty="0" smtClean="0"/>
              <a:t>₹7.51 </a:t>
            </a:r>
            <a:r>
              <a:rPr lang="en-US" b="1" dirty="0" err="1" smtClean="0"/>
              <a:t>lakh</a:t>
            </a:r>
            <a:r>
              <a:rPr lang="en-US" dirty="0" smtClean="0"/>
              <a:t>) had the highest average profits.</a:t>
            </a:r>
            <a:br>
              <a:rPr lang="en-US" dirty="0" smtClean="0"/>
            </a:br>
            <a:r>
              <a:rPr lang="en-US" dirty="0" smtClean="0"/>
              <a:t>Rice, Wheat and Maize showed negative average profit in the analyzed dataset.</a:t>
            </a:r>
          </a:p>
          <a:p>
            <a:r>
              <a:rPr lang="en-US" b="1" dirty="0" smtClean="0"/>
              <a:t>3. Irrigation Performance</a:t>
            </a:r>
            <a:r>
              <a:rPr lang="en-US" dirty="0" smtClean="0"/>
              <a:t/>
            </a:r>
            <a:br>
              <a:rPr lang="en-US" dirty="0" smtClean="0"/>
            </a:br>
            <a:r>
              <a:rPr lang="en-US" dirty="0" smtClean="0"/>
              <a:t>Drip irrigation recorded the highest average yield at </a:t>
            </a:r>
            <a:r>
              <a:rPr lang="en-US" b="1" dirty="0" smtClean="0"/>
              <a:t>6.58 t/ha</a:t>
            </a:r>
            <a:r>
              <a:rPr lang="en-US" dirty="0" smtClean="0"/>
              <a:t>.</a:t>
            </a:r>
            <a:br>
              <a:rPr lang="en-US" dirty="0" smtClean="0"/>
            </a:br>
            <a:r>
              <a:rPr lang="en-US" dirty="0" err="1" smtClean="0"/>
              <a:t>Rainfed</a:t>
            </a:r>
            <a:r>
              <a:rPr lang="en-US" dirty="0" smtClean="0"/>
              <a:t> farming had the highest calculated water efficiency at </a:t>
            </a:r>
            <a:r>
              <a:rPr lang="en-US" b="1" dirty="0" smtClean="0"/>
              <a:t>7.56 t/1000 m³</a:t>
            </a:r>
            <a:r>
              <a:rPr lang="en-US" dirty="0" smtClean="0"/>
              <a:t>.</a:t>
            </a:r>
          </a:p>
          <a:p>
            <a:r>
              <a:rPr lang="en-US" b="1" dirty="0" smtClean="0"/>
              <a:t>4. Water Efficiency</a:t>
            </a:r>
            <a:r>
              <a:rPr lang="en-US" dirty="0" smtClean="0"/>
              <a:t/>
            </a:r>
            <a:br>
              <a:rPr lang="en-US" dirty="0" smtClean="0"/>
            </a:br>
            <a:r>
              <a:rPr lang="en-US" dirty="0" smtClean="0"/>
              <a:t>Water efficiency showed a </a:t>
            </a:r>
            <a:r>
              <a:rPr lang="en-US" b="1" dirty="0" smtClean="0"/>
              <a:t>very strong positive relationship with yield (r = 0.913)</a:t>
            </a:r>
            <a:r>
              <a:rPr lang="en-US" dirty="0" smtClean="0"/>
              <a:t>.</a:t>
            </a:r>
            <a:br>
              <a:rPr lang="en-US" dirty="0" smtClean="0"/>
            </a:br>
            <a:r>
              <a:rPr lang="en-US" dirty="0" smtClean="0"/>
              <a:t>This indicates that better water utilization was strongly associated with higher yield in the dataset.</a:t>
            </a:r>
          </a:p>
          <a:p>
            <a:r>
              <a:rPr lang="en-US" b="1" dirty="0" smtClean="0"/>
              <a:t>5. Environmental Factors</a:t>
            </a:r>
            <a:r>
              <a:rPr lang="en-US" dirty="0" smtClean="0"/>
              <a:t/>
            </a:r>
            <a:br>
              <a:rPr lang="en-US" dirty="0" smtClean="0"/>
            </a:br>
            <a:r>
              <a:rPr lang="en-US" dirty="0" smtClean="0"/>
              <a:t>Rainfall and yield showed a </a:t>
            </a:r>
            <a:r>
              <a:rPr lang="en-US" b="1" dirty="0" smtClean="0"/>
              <a:t>very weak linear relationship (r ≈ 0.031)</a:t>
            </a:r>
            <a:r>
              <a:rPr lang="en-US" dirty="0" smtClean="0"/>
              <a:t>.</a:t>
            </a:r>
            <a:br>
              <a:rPr lang="en-US" dirty="0" smtClean="0"/>
            </a:br>
            <a:r>
              <a:rPr lang="en-US" dirty="0" smtClean="0"/>
              <a:t>Other environmental and farm conditions may contribute to yield variation.</a:t>
            </a:r>
          </a:p>
          <a:p>
            <a:pPr marL="0" indent="0">
              <a:buNone/>
            </a:pPr>
            <a:endParaRPr lang="en-IN" b="1" dirty="0">
              <a:solidFill>
                <a:schemeClr val="tx1"/>
              </a:solidFill>
            </a:endParaRPr>
          </a:p>
        </p:txBody>
      </p:sp>
    </p:spTree>
    <p:extLst>
      <p:ext uri="{BB962C8B-B14F-4D97-AF65-F5344CB8AC3E}">
        <p14:creationId xmlns:p14="http://schemas.microsoft.com/office/powerpoint/2010/main" xmlns=""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0">
                                            <p:txEl>
                                              <p:pRg st="5" end="5"/>
                                            </p:txEl>
                                          </p:spTgt>
                                        </p:tgtEl>
                                        <p:attrNameLst>
                                          <p:attrName>style.visibility</p:attrName>
                                        </p:attrNameLst>
                                      </p:cBhvr>
                                      <p:to>
                                        <p:strVal val="visible"/>
                                      </p:to>
                                    </p:set>
                                    <p:animEffect transition="in" filter="fade">
                                      <p:cBhvr>
                                        <p:cTn id="63" dur="1000"/>
                                        <p:tgtEl>
                                          <p:spTgt spid="10">
                                            <p:txEl>
                                              <p:pRg st="5" end="5"/>
                                            </p:txEl>
                                          </p:spTgt>
                                        </p:tgtEl>
                                      </p:cBhvr>
                                    </p:animEffect>
                                    <p:anim calcmode="lin" valueType="num">
                                      <p:cBhvr>
                                        <p:cTn id="64"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65"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3A64DB11-806F-1A4C-E0D5-D745D29CED50}"/>
              </a:ext>
            </a:extLst>
          </p:cNvPr>
          <p:cNvSpPr>
            <a:spLocks noGrp="1"/>
          </p:cNvSpPr>
          <p:nvPr>
            <p:ph type="body" sz="quarter" idx="12"/>
          </p:nvPr>
        </p:nvSpPr>
        <p:spPr>
          <a:xfrm>
            <a:off x="807164" y="1431692"/>
            <a:ext cx="10699036" cy="5208593"/>
          </a:xfrm>
        </p:spPr>
        <p:txBody>
          <a:bodyPr>
            <a:normAutofit fontScale="92500"/>
          </a:bodyPr>
          <a:lstStyle/>
          <a:p>
            <a:r>
              <a:rPr lang="en-US" b="1" dirty="0" smtClean="0"/>
              <a:t>6. Economic Relationships</a:t>
            </a:r>
            <a:r>
              <a:rPr lang="en-US" dirty="0" smtClean="0"/>
              <a:t/>
            </a:r>
            <a:br>
              <a:rPr lang="en-US" dirty="0" smtClean="0"/>
            </a:br>
            <a:r>
              <a:rPr lang="en-US" dirty="0" smtClean="0"/>
              <a:t>Revenue and profit had a </a:t>
            </a:r>
            <a:r>
              <a:rPr lang="en-US" b="1" dirty="0" smtClean="0"/>
              <a:t>strong positive relationship (r = 0.887)</a:t>
            </a:r>
            <a:r>
              <a:rPr lang="en-US" dirty="0" smtClean="0"/>
              <a:t>.</a:t>
            </a:r>
            <a:br>
              <a:rPr lang="en-US" dirty="0" smtClean="0"/>
            </a:br>
            <a:r>
              <a:rPr lang="en-US" dirty="0" smtClean="0"/>
              <a:t>Production also showed a positive relationship with yield (</a:t>
            </a:r>
            <a:r>
              <a:rPr lang="en-US" b="1" dirty="0" smtClean="0"/>
              <a:t>r = 0.883</a:t>
            </a:r>
            <a:r>
              <a:rPr lang="en-US" dirty="0" smtClean="0"/>
              <a:t>).</a:t>
            </a:r>
            <a:endParaRPr lang="en-US" dirty="0" smtClean="0"/>
          </a:p>
          <a:p>
            <a:r>
              <a:rPr lang="en-US" b="1" dirty="0" smtClean="0"/>
              <a:t>7. Agricultural Inputs</a:t>
            </a:r>
            <a:r>
              <a:rPr lang="en-US" dirty="0" smtClean="0"/>
              <a:t/>
            </a:r>
            <a:br>
              <a:rPr lang="en-US" dirty="0" smtClean="0"/>
            </a:br>
            <a:r>
              <a:rPr lang="en-US" dirty="0" smtClean="0"/>
              <a:t>Fertilizer quantity showed almost no linear relationship with yield (</a:t>
            </a:r>
            <a:r>
              <a:rPr lang="en-US" b="1" dirty="0" smtClean="0"/>
              <a:t>r ≈ 0.000</a:t>
            </a:r>
            <a:r>
              <a:rPr lang="en-US" dirty="0" smtClean="0"/>
              <a:t>).</a:t>
            </a:r>
            <a:br>
              <a:rPr lang="en-US" dirty="0" smtClean="0"/>
            </a:br>
            <a:r>
              <a:rPr lang="en-US" dirty="0" smtClean="0"/>
              <a:t>Seed quality also showed a very weak relationship with yield (</a:t>
            </a:r>
            <a:r>
              <a:rPr lang="en-US" b="1" dirty="0" smtClean="0"/>
              <a:t>r ≈ -0.007</a:t>
            </a:r>
            <a:r>
              <a:rPr lang="en-US" dirty="0" smtClean="0"/>
              <a:t>).</a:t>
            </a:r>
          </a:p>
          <a:p>
            <a:r>
              <a:rPr lang="en-US" b="1" dirty="0" smtClean="0"/>
              <a:t>8. Pest &amp; Disease Risk</a:t>
            </a:r>
            <a:r>
              <a:rPr lang="en-US" dirty="0" smtClean="0"/>
              <a:t/>
            </a:r>
            <a:br>
              <a:rPr lang="en-US" dirty="0" smtClean="0"/>
            </a:br>
            <a:r>
              <a:rPr lang="en-US" dirty="0" err="1" smtClean="0"/>
              <a:t>Kharif</a:t>
            </a:r>
            <a:r>
              <a:rPr lang="en-US" dirty="0" smtClean="0"/>
              <a:t> had the highest average disease/pest risk at </a:t>
            </a:r>
            <a:r>
              <a:rPr lang="en-US" b="1" dirty="0" smtClean="0"/>
              <a:t>54.47%</a:t>
            </a:r>
            <a:r>
              <a:rPr lang="en-US" dirty="0" smtClean="0"/>
              <a:t>.</a:t>
            </a:r>
            <a:br>
              <a:rPr lang="en-US" dirty="0" smtClean="0"/>
            </a:br>
            <a:r>
              <a:rPr lang="en-US" dirty="0" smtClean="0"/>
              <a:t>This suggests that higher-performing seasons may still require stronger pest monitoring.</a:t>
            </a:r>
          </a:p>
          <a:p>
            <a:r>
              <a:rPr lang="en-US" b="1" dirty="0" smtClean="0"/>
              <a:t>9. Crop-Season Pattern</a:t>
            </a:r>
            <a:r>
              <a:rPr lang="en-US" dirty="0" smtClean="0"/>
              <a:t/>
            </a:r>
            <a:br>
              <a:rPr lang="en-US" dirty="0" smtClean="0"/>
            </a:br>
            <a:r>
              <a:rPr lang="en-US" dirty="0" smtClean="0"/>
              <a:t>Sugarcane + </a:t>
            </a:r>
            <a:r>
              <a:rPr lang="en-US" dirty="0" err="1" smtClean="0"/>
              <a:t>Kharif</a:t>
            </a:r>
            <a:r>
              <a:rPr lang="en-US" dirty="0" smtClean="0"/>
              <a:t> had the highest average profit (</a:t>
            </a:r>
            <a:r>
              <a:rPr lang="en-US" b="1" dirty="0" smtClean="0"/>
              <a:t>₹10.01 </a:t>
            </a:r>
            <a:r>
              <a:rPr lang="en-US" b="1" dirty="0" err="1" smtClean="0"/>
              <a:t>lakh</a:t>
            </a:r>
            <a:r>
              <a:rPr lang="en-US" dirty="0" smtClean="0"/>
              <a:t>).</a:t>
            </a:r>
            <a:br>
              <a:rPr lang="en-US" dirty="0" smtClean="0"/>
            </a:br>
            <a:r>
              <a:rPr lang="en-US" dirty="0" err="1" smtClean="0"/>
              <a:t>Chilli</a:t>
            </a:r>
            <a:r>
              <a:rPr lang="en-US" dirty="0" smtClean="0"/>
              <a:t> + </a:t>
            </a:r>
            <a:r>
              <a:rPr lang="en-US" dirty="0" err="1" smtClean="0"/>
              <a:t>Kharif</a:t>
            </a:r>
            <a:r>
              <a:rPr lang="en-US" dirty="0" smtClean="0"/>
              <a:t> followed with approximately </a:t>
            </a:r>
            <a:r>
              <a:rPr lang="en-US" b="1" dirty="0" smtClean="0"/>
              <a:t>₹9.54 </a:t>
            </a:r>
            <a:r>
              <a:rPr lang="en-US" b="1" dirty="0" err="1" smtClean="0"/>
              <a:t>lakh</a:t>
            </a:r>
            <a:r>
              <a:rPr lang="en-US" dirty="0" smtClean="0"/>
              <a:t> average profit.</a:t>
            </a:r>
          </a:p>
          <a:p>
            <a:r>
              <a:rPr lang="en-US" b="1" dirty="0" smtClean="0"/>
              <a:t>10. Regional Analysis</a:t>
            </a:r>
            <a:r>
              <a:rPr lang="en-US" dirty="0" smtClean="0"/>
              <a:t/>
            </a:r>
            <a:br>
              <a:rPr lang="en-US" dirty="0" smtClean="0"/>
            </a:br>
            <a:r>
              <a:rPr lang="en-US" dirty="0" smtClean="0"/>
              <a:t>Profitability varied across regions, showing that agricultural performance was not uniform.</a:t>
            </a:r>
            <a:br>
              <a:rPr lang="en-US" dirty="0" smtClean="0"/>
            </a:br>
            <a:r>
              <a:rPr lang="en-US" dirty="0" smtClean="0"/>
              <a:t>Regional and crop-season differences should be considered before making broader decisions.</a:t>
            </a:r>
          </a:p>
          <a:p>
            <a:pPr marL="0" indent="0">
              <a:buNone/>
            </a:pPr>
            <a:endParaRPr lang="en-IN" dirty="0"/>
          </a:p>
        </p:txBody>
      </p:sp>
    </p:spTree>
    <p:extLst>
      <p:ext uri="{BB962C8B-B14F-4D97-AF65-F5344CB8AC3E}">
        <p14:creationId xmlns:p14="http://schemas.microsoft.com/office/powerpoint/2010/main" xmlns=""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xmlns=""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6385" name="Rectangle 1"/>
          <p:cNvSpPr>
            <a:spLocks noChangeArrowheads="1"/>
          </p:cNvSpPr>
          <p:nvPr/>
        </p:nvSpPr>
        <p:spPr bwMode="auto">
          <a:xfrm>
            <a:off x="127591" y="1180214"/>
            <a:ext cx="11068493" cy="524759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900" b="1"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Arial" charset="0"/>
                <a:cs typeface="Arial" charset="0"/>
              </a:rPr>
              <a:t>Predictive Analysis</a:t>
            </a:r>
            <a:r>
              <a:rPr kumimoji="0" lang="en-US" b="1" i="0" u="none" strike="noStrike" cap="none" normalizeH="0" baseline="0" dirty="0" smtClean="0">
                <a:ln>
                  <a:noFill/>
                </a:ln>
                <a:solidFill>
                  <a:schemeClr val="tx1"/>
                </a:solidFill>
                <a:effectLst/>
                <a:latin typeface="Arial" charset="0"/>
                <a:cs typeface="Arial" charset="0"/>
              </a:rPr>
              <a:t>:</a:t>
            </a:r>
            <a:r>
              <a:rPr kumimoji="0" lang="en-US" sz="4800" b="0" i="0" u="none" strike="noStrike" cap="none" normalizeH="0" baseline="0" dirty="0" smtClean="0">
                <a:ln>
                  <a:noFill/>
                </a:ln>
                <a:solidFill>
                  <a:schemeClr val="tx1"/>
                </a:solidFill>
                <a:effectLst/>
                <a:latin typeface="Arial" charset="0"/>
                <a:cs typeface="Arial" charset="0"/>
              </a:rPr>
              <a:t> </a:t>
            </a:r>
            <a:r>
              <a:rPr kumimoji="0" lang="en-US" sz="2000" b="0" i="0" u="none" strike="noStrike" cap="none" normalizeH="0" baseline="0" dirty="0" smtClean="0">
                <a:ln>
                  <a:noFill/>
                </a:ln>
                <a:solidFill>
                  <a:schemeClr val="tx1"/>
                </a:solidFill>
                <a:effectLst/>
                <a:latin typeface="Arial" charset="0"/>
                <a:cs typeface="Arial" charset="0"/>
              </a:rPr>
              <a:t>Develop models to predict crop yield, profit, and seasonal performance using historical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Arial" charset="0"/>
                <a:cs typeface="Arial" charset="0"/>
              </a:rPr>
              <a:t>Weather Integration:</a:t>
            </a:r>
            <a:r>
              <a:rPr kumimoji="0" lang="en-US" sz="2000" b="0" i="0" u="none" strike="noStrike" cap="none" normalizeH="0" baseline="0" dirty="0" smtClean="0">
                <a:ln>
                  <a:noFill/>
                </a:ln>
                <a:solidFill>
                  <a:schemeClr val="tx1"/>
                </a:solidFill>
                <a:effectLst/>
                <a:latin typeface="Arial" charset="0"/>
                <a:cs typeface="Arial" charset="0"/>
              </a:rPr>
              <a:t> Include real-time weather data such as rainfall, temperature, and humidity for better planning.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Arial" charset="0"/>
                <a:cs typeface="Arial" charset="0"/>
              </a:rPr>
              <a:t>Crop Recommendation:</a:t>
            </a:r>
            <a:r>
              <a:rPr kumimoji="0" lang="en-US" sz="2000" b="0" i="0" u="none" strike="noStrike" cap="none" normalizeH="0" baseline="0" dirty="0" smtClean="0">
                <a:ln>
                  <a:noFill/>
                </a:ln>
                <a:solidFill>
                  <a:schemeClr val="tx1"/>
                </a:solidFill>
                <a:effectLst/>
                <a:latin typeface="Arial" charset="0"/>
                <a:cs typeface="Arial" charset="0"/>
              </a:rPr>
              <a:t> Build a system that recommends suitable crops based on soil, season, weather, and expected profitability.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Arial" charset="0"/>
                <a:cs typeface="Arial" charset="0"/>
              </a:rPr>
              <a:t>Smart Irrigation:</a:t>
            </a:r>
            <a:r>
              <a:rPr kumimoji="0" lang="en-US" sz="2000" b="0" i="0" u="none" strike="noStrike" cap="none" normalizeH="0" baseline="0" dirty="0" smtClean="0">
                <a:ln>
                  <a:noFill/>
                </a:ln>
                <a:solidFill>
                  <a:schemeClr val="tx1"/>
                </a:solidFill>
                <a:effectLst/>
                <a:latin typeface="Arial" charset="0"/>
                <a:cs typeface="Arial" charset="0"/>
              </a:rPr>
              <a:t> Use </a:t>
            </a:r>
            <a:r>
              <a:rPr kumimoji="0" lang="en-US" sz="2000" b="0" i="0" u="none" strike="noStrike" cap="none" normalizeH="0" baseline="0" dirty="0" err="1" smtClean="0">
                <a:ln>
                  <a:noFill/>
                </a:ln>
                <a:solidFill>
                  <a:schemeClr val="tx1"/>
                </a:solidFill>
                <a:effectLst/>
                <a:latin typeface="Arial" charset="0"/>
                <a:cs typeface="Arial" charset="0"/>
              </a:rPr>
              <a:t>IoT</a:t>
            </a:r>
            <a:r>
              <a:rPr kumimoji="0" lang="en-US" sz="2000" b="0" i="0" u="none" strike="noStrike" cap="none" normalizeH="0" baseline="0" dirty="0" smtClean="0">
                <a:ln>
                  <a:noFill/>
                </a:ln>
                <a:solidFill>
                  <a:schemeClr val="tx1"/>
                </a:solidFill>
                <a:effectLst/>
                <a:latin typeface="Arial" charset="0"/>
                <a:cs typeface="Arial" charset="0"/>
              </a:rPr>
              <a:t> sensors to monitor soil moisture and optimize water usage.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Arial" charset="0"/>
                <a:cs typeface="Arial" charset="0"/>
              </a:rPr>
              <a:t>Disease Detection:</a:t>
            </a:r>
            <a:r>
              <a:rPr kumimoji="0" lang="en-US" sz="2000" b="0" i="0" u="none" strike="noStrike" cap="none" normalizeH="0" baseline="0" dirty="0" smtClean="0">
                <a:ln>
                  <a:noFill/>
                </a:ln>
                <a:solidFill>
                  <a:schemeClr val="tx1"/>
                </a:solidFill>
                <a:effectLst/>
                <a:latin typeface="Arial" charset="0"/>
                <a:cs typeface="Arial" charset="0"/>
              </a:rPr>
              <a:t> Add machine-learning-based crop disease and pest detection.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Arial" charset="0"/>
                <a:cs typeface="Arial" charset="0"/>
              </a:rPr>
              <a:t>Real-Time Dashboard:</a:t>
            </a:r>
            <a:r>
              <a:rPr kumimoji="0" lang="en-US" sz="2000" b="0" i="0" u="none" strike="noStrike" cap="none" normalizeH="0" baseline="0" dirty="0" smtClean="0">
                <a:ln>
                  <a:noFill/>
                </a:ln>
                <a:solidFill>
                  <a:schemeClr val="tx1"/>
                </a:solidFill>
                <a:effectLst/>
                <a:latin typeface="Arial" charset="0"/>
                <a:cs typeface="Arial" charset="0"/>
              </a:rPr>
              <a:t> Develop an interactive dashboard for farmers and agricultural departments to monitor performance.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Arial" charset="0"/>
                <a:cs typeface="Arial" charset="0"/>
              </a:rPr>
              <a:t>Market Price Prediction:</a:t>
            </a:r>
            <a:r>
              <a:rPr kumimoji="0" lang="en-US" sz="2000" b="0" i="0" u="none" strike="noStrike" cap="none" normalizeH="0" baseline="0" dirty="0" smtClean="0">
                <a:ln>
                  <a:noFill/>
                </a:ln>
                <a:solidFill>
                  <a:schemeClr val="tx1"/>
                </a:solidFill>
                <a:effectLst/>
                <a:latin typeface="Arial" charset="0"/>
                <a:cs typeface="Arial" charset="0"/>
              </a:rPr>
              <a:t> Analyze and predict future crop prices to support better selling decisions.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Arial" charset="0"/>
                <a:cs typeface="Arial" charset="0"/>
              </a:rPr>
              <a:t>Larger Dataset:</a:t>
            </a:r>
            <a:r>
              <a:rPr kumimoji="0" lang="en-US" sz="2000" b="0" i="0" u="none" strike="noStrike" cap="none" normalizeH="0" baseline="0" dirty="0" smtClean="0">
                <a:ln>
                  <a:noFill/>
                </a:ln>
                <a:solidFill>
                  <a:schemeClr val="tx1"/>
                </a:solidFill>
                <a:effectLst/>
                <a:latin typeface="Arial" charset="0"/>
                <a:cs typeface="Arial" charset="0"/>
              </a:rPr>
              <a:t> Include more years, regions, crops, and farm-level data for more reliable analysis.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xmlns=""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3D44118A-0276-9E2F-E0E8-85CEE9F1E0C7}"/>
              </a:ext>
            </a:extLst>
          </p:cNvPr>
          <p:cNvPicPr>
            <a:picLocks noChangeAspect="1"/>
          </p:cNvPicPr>
          <p:nvPr/>
        </p:nvPicPr>
        <p:blipFill rotWithShape="1">
          <a:blip r:embed="rId3"/>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xmlns=""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Rectangle 5"/>
          <p:cNvSpPr/>
          <p:nvPr/>
        </p:nvSpPr>
        <p:spPr>
          <a:xfrm>
            <a:off x="788377" y="1743027"/>
            <a:ext cx="6096000" cy="646331"/>
          </a:xfrm>
          <a:prstGeom prst="rect">
            <a:avLst/>
          </a:prstGeom>
        </p:spPr>
        <p:txBody>
          <a:bodyPr>
            <a:spAutoFit/>
          </a:bodyPr>
          <a:lstStyle/>
          <a:p>
            <a:r>
              <a:rPr lang="en-US" dirty="0" smtClean="0"/>
              <a:t>https://</a:t>
            </a:r>
            <a:r>
              <a:rPr lang="en-US" dirty="0" smtClean="0">
                <a:hlinkClick r:id="rId4"/>
              </a:rPr>
              <a:t>github.com/porasalex/Seasonal-Agriculture-Performance-Analysis.git</a:t>
            </a:r>
            <a:endParaRPr lang="en-US" dirty="0"/>
          </a:p>
        </p:txBody>
      </p:sp>
    </p:spTree>
    <p:extLst>
      <p:ext uri="{BB962C8B-B14F-4D97-AF65-F5344CB8AC3E}">
        <p14:creationId xmlns:p14="http://schemas.microsoft.com/office/powerpoint/2010/main" xmlns=""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5B12FC48-BC6E-8635-A49E-73EF17CEDC01}"/>
              </a:ext>
            </a:extLst>
          </p:cNvPr>
          <p:cNvPicPr>
            <a:picLocks noChangeAspect="1"/>
          </p:cNvPicPr>
          <p:nvPr/>
        </p:nvPicPr>
        <p:blipFill rotWithShape="1">
          <a:blip r:embed="rId3"/>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xmlns="" id="{069BD300-7A70-B076-3B4C-43081E893162}"/>
              </a:ext>
            </a:extLst>
          </p:cNvPr>
          <p:cNvSpPr txBox="1">
            <a:spLocks/>
          </p:cNvSpPr>
          <p:nvPr/>
        </p:nvSpPr>
        <p:spPr>
          <a:xfrm>
            <a:off x="320982" y="1275371"/>
            <a:ext cx="9060409" cy="5099052"/>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descr="data visualzation certificate.png"/>
          <p:cNvPicPr>
            <a:picLocks noChangeAspect="1"/>
          </p:cNvPicPr>
          <p:nvPr/>
        </p:nvPicPr>
        <p:blipFill>
          <a:blip r:embed="rId4"/>
          <a:stretch>
            <a:fillRect/>
          </a:stretch>
        </p:blipFill>
        <p:spPr>
          <a:xfrm>
            <a:off x="571499" y="1571471"/>
            <a:ext cx="8642838" cy="4943629"/>
          </a:xfrm>
          <a:prstGeom prst="rect">
            <a:avLst/>
          </a:prstGeom>
        </p:spPr>
      </p:pic>
    </p:spTree>
    <p:extLst>
      <p:ext uri="{BB962C8B-B14F-4D97-AF65-F5344CB8AC3E}">
        <p14:creationId xmlns:p14="http://schemas.microsoft.com/office/powerpoint/2010/main" xmlns=""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xmlns=""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xmlns=""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xmlns=""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xmlns=""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xmlns=""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xmlns=""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xmlns=""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xmlns=""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xmlns=""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r>
              <a:rPr lang="en-IN" dirty="0" smtClean="0"/>
              <a:t>THE – END </a:t>
            </a:r>
          </a:p>
          <a:p>
            <a:endParaRPr lang="en-IN" dirty="0"/>
          </a:p>
        </p:txBody>
      </p:sp>
    </p:spTree>
    <p:extLst>
      <p:ext uri="{BB962C8B-B14F-4D97-AF65-F5344CB8AC3E}">
        <p14:creationId xmlns:p14="http://schemas.microsoft.com/office/powerpoint/2010/main" xmlns=""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674</TotalTime>
  <Words>770</Words>
  <Application>Microsoft Office PowerPoint</Application>
  <PresentationFormat>Custom</PresentationFormat>
  <Paragraphs>106</Paragraphs>
  <Slides>20</Slides>
  <Notes>3</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Facet</vt:lpstr>
      <vt:lpstr>Seasonal Agriculture Performance Analysis</vt:lpstr>
      <vt:lpstr>PROBLEM  STATEMENT</vt:lpstr>
      <vt:lpstr>Project Description  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  </vt:lpstr>
      <vt:lpstr>WHO ARE THE END USERS?</vt:lpstr>
      <vt:lpstr>Technology Used</vt:lpstr>
      <vt:lpstr>RESULTS </vt:lpstr>
      <vt:lpstr>Seasonal Yield Comparison</vt:lpstr>
      <vt:lpstr>Seasonal Profit Comparison</vt:lpstr>
      <vt:lpstr>Crop-wise Profitability</vt:lpstr>
      <vt:lpstr>Irrigation and Yield</vt:lpstr>
      <vt:lpstr>Environmental Relationship: Rainfall and Yield</vt:lpstr>
      <vt:lpstr>Correlation Analysis</vt:lpstr>
      <vt:lpstr>Regional Profit Comparison</vt:lpstr>
      <vt:lpstr>Crop and Season Profit Pattern</vt:lpstr>
      <vt:lpstr>RESULTS </vt:lpstr>
      <vt:lpstr>RESULTS </vt:lpstr>
      <vt:lpstr>Future scope</vt:lpstr>
      <vt:lpstr>GitHub Link</vt:lpstr>
      <vt:lpstr>VOIS Course completion certificate -  Course name- Data Visualization </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Lenovo</cp:lastModifiedBy>
  <cp:revision>105</cp:revision>
  <dcterms:created xsi:type="dcterms:W3CDTF">2021-07-11T13:13:15Z</dcterms:created>
  <dcterms:modified xsi:type="dcterms:W3CDTF">2026-09-09T15:51:55Z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